
<file path=[Content_Types].xml><?xml version="1.0" encoding="utf-8"?>
<Types xmlns="http://schemas.openxmlformats.org/package/2006/content-types">
  <Default Extension="png" ContentType="image/pn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6" r:id="rId24"/>
    <p:sldId id="279" r:id="rId25"/>
    <p:sldId id="280" r:id="rId26"/>
    <p:sldId id="281" r:id="rId27"/>
    <p:sldId id="322" r:id="rId28"/>
    <p:sldId id="323" r:id="rId29"/>
    <p:sldId id="324" r:id="rId30"/>
    <p:sldId id="325" r:id="rId31"/>
    <p:sldId id="326" r:id="rId32"/>
    <p:sldId id="327" r:id="rId33"/>
    <p:sldId id="328" r:id="rId34"/>
    <p:sldId id="329" r:id="rId35"/>
    <p:sldId id="330" r:id="rId36"/>
    <p:sldId id="331" r:id="rId37"/>
    <p:sldId id="332" r:id="rId38"/>
    <p:sldId id="282" r:id="rId39"/>
    <p:sldId id="283" r:id="rId40"/>
    <p:sldId id="284" r:id="rId41"/>
    <p:sldId id="285" r:id="rId42"/>
    <p:sldId id="286" r:id="rId43"/>
    <p:sldId id="287" r:id="rId44"/>
    <p:sldId id="288" r:id="rId45"/>
    <p:sldId id="289"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290" r:id="rId60"/>
    <p:sldId id="291" r:id="rId61"/>
    <p:sldId id="292" r:id="rId62"/>
    <p:sldId id="293" r:id="rId63"/>
    <p:sldId id="294" r:id="rId64"/>
    <p:sldId id="308" r:id="rId65"/>
    <p:sldId id="309" r:id="rId66"/>
    <p:sldId id="333" r:id="rId67"/>
    <p:sldId id="310" r:id="rId68"/>
    <p:sldId id="311" r:id="rId69"/>
    <p:sldId id="312" r:id="rId70"/>
    <p:sldId id="313" r:id="rId71"/>
    <p:sldId id="314" r:id="rId72"/>
    <p:sldId id="315" r:id="rId73"/>
    <p:sldId id="316" r:id="rId74"/>
    <p:sldId id="317" r:id="rId75"/>
    <p:sldId id="318" r:id="rId76"/>
    <p:sldId id="319" r:id="rId77"/>
    <p:sldId id="320" r:id="rId78"/>
    <p:sldId id="321" r:id="rId7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239CB7-9A81-494B-978F-0755772E2A50}" type="datetimeFigureOut">
              <a:rPr lang="en-US" smtClean="0"/>
              <a:pPr/>
              <a:t>10/15/2024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736AA7-2BDE-42B7-9A13-F09FCCA6CF7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A736AA7-2BDE-42B7-9A13-F09FCCA6CF7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A736AA7-2BDE-42B7-9A13-F09FCCA6CF70}" type="slidenum">
              <a:rPr lang="en-US" smtClean="0"/>
              <a:pPr/>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9DF8FDD-6C4C-445B-95F2-786A1EE10C7F}"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D1E559-9D9E-4A69-BFFD-55CEF84DF6D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DF8FDD-6C4C-445B-95F2-786A1EE10C7F}"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D1E559-9D9E-4A69-BFFD-55CEF84DF6D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DF8FDD-6C4C-445B-95F2-786A1EE10C7F}"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D1E559-9D9E-4A69-BFFD-55CEF84DF6D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DF8FDD-6C4C-445B-95F2-786A1EE10C7F}" type="datetimeFigureOut">
              <a:rPr lang="en-US" smtClean="0"/>
              <a:pPr/>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D1E559-9D9E-4A69-BFFD-55CEF84DF6D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9DF8FDD-6C4C-445B-95F2-786A1EE10C7F}" type="datetimeFigureOut">
              <a:rPr lang="en-US" smtClean="0"/>
              <a:pPr/>
              <a:t>10/15/2024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D1E559-9D9E-4A69-BFFD-55CEF84DF6D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DF8FDD-6C4C-445B-95F2-786A1EE10C7F}" type="datetimeFigureOut">
              <a:rPr lang="en-US" smtClean="0"/>
              <a:pPr/>
              <a:t>10/15/2024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D1E559-9D9E-4A69-BFFD-55CEF84DF6D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DF8FDD-6C4C-445B-95F2-786A1EE10C7F}" type="datetimeFigureOut">
              <a:rPr lang="en-US" smtClean="0"/>
              <a:pPr/>
              <a:t>10/15/2024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D1E559-9D9E-4A69-BFFD-55CEF84DF6D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DF8FDD-6C4C-445B-95F2-786A1EE10C7F}" type="datetimeFigureOut">
              <a:rPr lang="en-US" smtClean="0"/>
              <a:pPr/>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D1E559-9D9E-4A69-BFFD-55CEF84DF6D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DF8FDD-6C4C-445B-95F2-786A1EE10C7F}" type="datetimeFigureOut">
              <a:rPr lang="en-US" smtClean="0"/>
              <a:pPr/>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D1E559-9D9E-4A69-BFFD-55CEF84DF6D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DF8FDD-6C4C-445B-95F2-786A1EE10C7F}"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D1E559-9D9E-4A69-BFFD-55CEF84DF6D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DF8FDD-6C4C-445B-95F2-786A1EE10C7F}"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D1E559-9D9E-4A69-BFFD-55CEF84DF6D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DF8FDD-6C4C-445B-95F2-786A1EE10C7F}" type="datetimeFigureOut">
              <a:rPr lang="en-US" smtClean="0"/>
              <a:pPr/>
              <a:t>10/15/2024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D1E559-9D9E-4A69-BFFD-55CEF84DF6D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57400"/>
            <a:ext cx="8001000" cy="3886200"/>
          </a:xfrm>
        </p:spPr>
        <p:txBody>
          <a:bodyPr>
            <a:normAutofit fontScale="90000"/>
          </a:bodyPr>
          <a:lstStyle/>
          <a:p>
            <a:pPr algn="r"/>
            <a:r>
              <a:rPr lang="en-US" b="1" dirty="0" smtClean="0"/>
              <a:t>Multi core Architecture</a:t>
            </a:r>
            <a:br>
              <a:rPr lang="en-US" b="1" dirty="0" smtClean="0"/>
            </a:br>
            <a:r>
              <a:rPr lang="en-US" b="1" dirty="0" smtClean="0"/>
              <a:t>Code:</a:t>
            </a:r>
            <a:r>
              <a:rPr lang="en-US" sz="4000" b="1" dirty="0" smtClean="0"/>
              <a:t>CS72</a:t>
            </a:r>
            <a:r>
              <a:rPr lang="en-US" b="1" dirty="0" smtClean="0"/>
              <a:t>          Credits:</a:t>
            </a:r>
            <a:r>
              <a:rPr lang="en-US" sz="4000" b="1" dirty="0" smtClean="0"/>
              <a:t>3:1:0:0</a:t>
            </a:r>
            <a:r>
              <a:rPr lang="en-US" b="1" dirty="0" smtClean="0"/>
              <a:t/>
            </a:r>
            <a:br>
              <a:rPr lang="en-US" b="1" dirty="0" smtClean="0"/>
            </a:br>
            <a:r>
              <a:rPr lang="en-US" b="1" dirty="0"/>
              <a:t/>
            </a:r>
            <a:br>
              <a:rPr lang="en-US" b="1" dirty="0"/>
            </a:br>
            <a:r>
              <a:rPr lang="en-US" b="1" dirty="0" err="1" smtClean="0"/>
              <a:t>Incharge</a:t>
            </a:r>
            <a:r>
              <a:rPr lang="en-US" b="1" dirty="0" smtClean="0"/>
              <a:t> </a:t>
            </a:r>
            <a:br>
              <a:rPr lang="en-US" b="1" dirty="0" smtClean="0"/>
            </a:br>
            <a:r>
              <a:rPr lang="en-US" sz="3100" b="1" dirty="0" err="1" smtClean="0"/>
              <a:t>Mallegowda</a:t>
            </a:r>
            <a:r>
              <a:rPr lang="en-US" sz="3100" b="1" dirty="0" smtClean="0"/>
              <a:t> M</a:t>
            </a:r>
            <a:r>
              <a:rPr lang="en-US" b="1" dirty="0" smtClean="0"/>
              <a:t/>
            </a:r>
            <a:br>
              <a:rPr lang="en-US" b="1" dirty="0" smtClean="0"/>
            </a:br>
            <a:endParaRPr lang="en-US" b="1" dirty="0"/>
          </a:p>
        </p:txBody>
      </p:sp>
      <p:pic>
        <p:nvPicPr>
          <p:cNvPr id="4" name="Picture 2" descr="C:\Users\Srinidhi\Desktop\logo.png"/>
          <p:cNvPicPr>
            <a:picLocks noChangeAspect="1" noChangeArrowheads="1"/>
          </p:cNvPicPr>
          <p:nvPr/>
        </p:nvPicPr>
        <p:blipFill rotWithShape="1">
          <a:blip r:embed="rId3" cstate="print"/>
          <a:srcRect l="7033" t="21686" r="7931" b="15596"/>
          <a:stretch/>
        </p:blipFill>
        <p:spPr bwMode="auto">
          <a:xfrm>
            <a:off x="529033" y="320263"/>
            <a:ext cx="2675265" cy="897294"/>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
            </a:r>
            <a:r>
              <a:rPr lang="en-US" dirty="0" smtClean="0"/>
              <a:t>yllabus</a:t>
            </a:r>
            <a:endParaRPr lang="en-US" dirty="0"/>
          </a:p>
        </p:txBody>
      </p:sp>
      <p:sp>
        <p:nvSpPr>
          <p:cNvPr id="3" name="Content Placeholder 2"/>
          <p:cNvSpPr>
            <a:spLocks noGrp="1"/>
          </p:cNvSpPr>
          <p:nvPr>
            <p:ph idx="1"/>
          </p:nvPr>
        </p:nvSpPr>
        <p:spPr/>
        <p:txBody>
          <a:bodyPr>
            <a:normAutofit fontScale="70000" lnSpcReduction="20000"/>
          </a:bodyPr>
          <a:lstStyle/>
          <a:p>
            <a:r>
              <a:rPr lang="en-US" b="1" dirty="0"/>
              <a:t>UNIT I</a:t>
            </a:r>
            <a:endParaRPr lang="en-US" dirty="0"/>
          </a:p>
          <a:p>
            <a:pPr>
              <a:buNone/>
            </a:pPr>
            <a:r>
              <a:rPr lang="en-US" dirty="0" smtClean="0"/>
              <a:t>      Introduction </a:t>
            </a:r>
            <a:r>
              <a:rPr lang="en-US" dirty="0"/>
              <a:t>to High–Performance Computers, Memory Hierarchy, CPU Design: Reduced Instruction Set Computers, Multiple–Core Processors, Vector Processors, </a:t>
            </a:r>
            <a:r>
              <a:rPr lang="en-US" b="1" u="sng" dirty="0"/>
              <a:t>Self study</a:t>
            </a:r>
            <a:r>
              <a:rPr lang="en-US" b="1" dirty="0"/>
              <a:t> Parallel Semantics, Distributed Memory </a:t>
            </a:r>
            <a:r>
              <a:rPr lang="en-US" b="1" dirty="0" smtClean="0"/>
              <a:t>Programming</a:t>
            </a:r>
          </a:p>
          <a:p>
            <a:pPr>
              <a:buNone/>
            </a:pPr>
            <a:endParaRPr lang="en-US" dirty="0"/>
          </a:p>
          <a:p>
            <a:r>
              <a:rPr lang="en-US" b="1" dirty="0"/>
              <a:t>UNIT</a:t>
            </a:r>
            <a:r>
              <a:rPr lang="en-US" dirty="0"/>
              <a:t> </a:t>
            </a:r>
            <a:r>
              <a:rPr lang="en-US" b="1" dirty="0"/>
              <a:t>II</a:t>
            </a:r>
            <a:endParaRPr lang="en-US" dirty="0"/>
          </a:p>
          <a:p>
            <a:pPr>
              <a:buNone/>
            </a:pPr>
            <a:r>
              <a:rPr lang="en-US" dirty="0" smtClean="0"/>
              <a:t>     Programming </a:t>
            </a:r>
            <a:r>
              <a:rPr lang="en-US" dirty="0"/>
              <a:t>Shared Address Space Platforms: Thread Basics, Why Threads? The POSIX Thread API, Thread Creation and Termination, Synchronization Primitives in </a:t>
            </a:r>
            <a:r>
              <a:rPr lang="en-US" dirty="0" err="1"/>
              <a:t>Pthreads</a:t>
            </a:r>
            <a:r>
              <a:rPr lang="en-US" dirty="0"/>
              <a:t>, Controlling Thread and Synchronization Attributes, Thread Cancellation, Composite Synchronization Constructs, </a:t>
            </a:r>
            <a:r>
              <a:rPr lang="en-US" b="1" u="sng" dirty="0"/>
              <a:t>Self study</a:t>
            </a:r>
            <a:r>
              <a:rPr lang="en-US" b="1" dirty="0"/>
              <a:t> Tips for Designing Asynchronous Programs, </a:t>
            </a:r>
            <a:r>
              <a:rPr lang="en-US" b="1" dirty="0" err="1"/>
              <a:t>OpenMP</a:t>
            </a:r>
            <a:r>
              <a:rPr lang="en-US" b="1" dirty="0"/>
              <a:t>: a Standard for Directive Based Parallel Programming</a:t>
            </a:r>
            <a:endParaRPr lang="en-US" dirty="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96000"/>
          </a:xfrm>
        </p:spPr>
        <p:txBody>
          <a:bodyPr>
            <a:normAutofit fontScale="55000" lnSpcReduction="20000"/>
          </a:bodyPr>
          <a:lstStyle/>
          <a:p>
            <a:r>
              <a:rPr lang="en-US" b="1" dirty="0"/>
              <a:t>UNIT</a:t>
            </a:r>
            <a:r>
              <a:rPr lang="en-US" dirty="0"/>
              <a:t> </a:t>
            </a:r>
            <a:r>
              <a:rPr lang="en-US" b="1" dirty="0"/>
              <a:t>III</a:t>
            </a:r>
            <a:endParaRPr lang="en-US" dirty="0"/>
          </a:p>
          <a:p>
            <a:pPr>
              <a:buNone/>
            </a:pPr>
            <a:r>
              <a:rPr lang="en-US" dirty="0" smtClean="0"/>
              <a:t>       Programming </a:t>
            </a:r>
            <a:r>
              <a:rPr lang="en-US" dirty="0"/>
              <a:t>using the Message-Passing Paradigm: Principles of Message-Passing Programming, The Building Blocks: Send and Receive Operations, MPI: the Message Passing Interface, Topologies and Embedding, Overlapping Communication with Computation, Collective Communication and Computation Operations</a:t>
            </a:r>
            <a:r>
              <a:rPr lang="en-US" b="1" dirty="0"/>
              <a:t>, </a:t>
            </a:r>
            <a:r>
              <a:rPr lang="en-US" b="1" u="sng" dirty="0"/>
              <a:t>Self study</a:t>
            </a:r>
            <a:r>
              <a:rPr lang="en-US" b="1" dirty="0"/>
              <a:t> Groups and Communicators</a:t>
            </a:r>
            <a:r>
              <a:rPr lang="en-US" dirty="0"/>
              <a:t>. </a:t>
            </a:r>
          </a:p>
          <a:p>
            <a:r>
              <a:rPr lang="en-US" b="1" dirty="0"/>
              <a:t>UNIT IV</a:t>
            </a:r>
            <a:endParaRPr lang="en-US" dirty="0"/>
          </a:p>
          <a:p>
            <a:pPr>
              <a:buNone/>
            </a:pPr>
            <a:r>
              <a:rPr lang="en-US" dirty="0" smtClean="0"/>
              <a:t>       Introduction</a:t>
            </a:r>
            <a:r>
              <a:rPr lang="en-US" dirty="0"/>
              <a:t>: GPUs as Parallel Computers, Architecture of a Model GPU, Why More Speed or Parallelism? Parallel Programming Languages and Models, Overarching Goals.  History of GPU Computing: Evolution of Graphics Pipelines, GPU Computing. Introduction to CUDA: Data Parallelism, CUDA Program Structure, A Matrix-Matrix Multiplication Example, Device Memories and Data Transfer, </a:t>
            </a:r>
            <a:r>
              <a:rPr lang="en-US" b="1" u="sng" dirty="0"/>
              <a:t>Self study</a:t>
            </a:r>
            <a:r>
              <a:rPr lang="en-US" b="1" dirty="0"/>
              <a:t> Kernel Functions and Threading</a:t>
            </a:r>
            <a:r>
              <a:rPr lang="en-US" dirty="0"/>
              <a:t>.</a:t>
            </a:r>
          </a:p>
          <a:p>
            <a:r>
              <a:rPr lang="en-US" b="1" dirty="0"/>
              <a:t>Unit V</a:t>
            </a:r>
            <a:endParaRPr lang="en-US" dirty="0"/>
          </a:p>
          <a:p>
            <a:pPr>
              <a:buNone/>
            </a:pPr>
            <a:r>
              <a:rPr lang="en-US" dirty="0" smtClean="0"/>
              <a:t>       CUDA </a:t>
            </a:r>
            <a:r>
              <a:rPr lang="en-US" dirty="0"/>
              <a:t>Threads: CUDA Thread Organization, Using </a:t>
            </a:r>
            <a:r>
              <a:rPr lang="en-US" dirty="0" err="1"/>
              <a:t>blockIdx</a:t>
            </a:r>
            <a:r>
              <a:rPr lang="en-US" dirty="0"/>
              <a:t> and </a:t>
            </a:r>
            <a:r>
              <a:rPr lang="en-US" dirty="0" err="1"/>
              <a:t>threadIdx</a:t>
            </a:r>
            <a:r>
              <a:rPr lang="en-US" dirty="0"/>
              <a:t>, Synchronization and Transparent Scalability, Thread Assignment, Thread Scheduling and Latency Tolerance. CUDA Memories: Importance of Memory Access Efficiency, CUDA Device Memory Types, A Strategy for Reducing Global Memory Traffic, </a:t>
            </a:r>
            <a:r>
              <a:rPr lang="en-US" b="1" u="sng" dirty="0"/>
              <a:t>Self study</a:t>
            </a:r>
            <a:r>
              <a:rPr lang="en-US" b="1" dirty="0"/>
              <a:t> Memory as a limiting Factor to </a:t>
            </a:r>
            <a:r>
              <a:rPr lang="en-US" b="1" dirty="0" smtClean="0"/>
              <a:t>Parallelism</a:t>
            </a:r>
            <a:r>
              <a:rPr lang="en-US" dirty="0" smtClean="0"/>
              <a:t>. Performance </a:t>
            </a:r>
            <a:r>
              <a:rPr lang="en-US" dirty="0"/>
              <a:t>Considerations: More on Thread Execution, Global Memory Bandwidth, Dynamic Partitioning of SM Resources, Data Perfecting, Instruction Mix, Thread Granularity, Measured Performance and Summary.</a:t>
            </a:r>
          </a:p>
          <a:p>
            <a:pPr>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u="sng" dirty="0" smtClean="0"/>
              <a:t>TEXT BOOKS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pPr>
              <a:buNone/>
            </a:pPr>
            <a:r>
              <a:rPr lang="en-US" dirty="0" smtClean="0"/>
              <a:t>1</a:t>
            </a:r>
            <a:r>
              <a:rPr lang="en-US" dirty="0"/>
              <a:t>.   Rubin H Landau, Oregon State University, http://science.oregonstate.edu/ </a:t>
            </a:r>
            <a:r>
              <a:rPr lang="en-US" dirty="0" err="1"/>
              <a:t>rubin</a:t>
            </a:r>
            <a:r>
              <a:rPr lang="en-US" dirty="0"/>
              <a:t>/</a:t>
            </a:r>
          </a:p>
          <a:p>
            <a:pPr>
              <a:buNone/>
            </a:pPr>
            <a:r>
              <a:rPr lang="en-US" dirty="0"/>
              <a:t>2. </a:t>
            </a:r>
            <a:r>
              <a:rPr lang="en-US" dirty="0" err="1"/>
              <a:t>Ananth</a:t>
            </a:r>
            <a:r>
              <a:rPr lang="en-US" dirty="0"/>
              <a:t> </a:t>
            </a:r>
            <a:r>
              <a:rPr lang="en-US" dirty="0" err="1"/>
              <a:t>Grama,Anshul</a:t>
            </a:r>
            <a:r>
              <a:rPr lang="en-US" dirty="0"/>
              <a:t> </a:t>
            </a:r>
            <a:r>
              <a:rPr lang="en-US" dirty="0" err="1"/>
              <a:t>Gupta,Vipin</a:t>
            </a:r>
            <a:r>
              <a:rPr lang="en-US" dirty="0"/>
              <a:t> kumar, George </a:t>
            </a:r>
            <a:r>
              <a:rPr lang="en-US" dirty="0" err="1"/>
              <a:t>Karypis</a:t>
            </a:r>
            <a:r>
              <a:rPr lang="en-US" dirty="0"/>
              <a:t> Introduction to parallel computing, second edition, Pearson education publishers.</a:t>
            </a:r>
          </a:p>
          <a:p>
            <a:pPr>
              <a:buNone/>
            </a:pPr>
            <a:r>
              <a:rPr lang="en-US" dirty="0"/>
              <a:t>3.  David B Kirk, </a:t>
            </a:r>
            <a:r>
              <a:rPr lang="en-US" dirty="0" err="1"/>
              <a:t>Wen-mei</a:t>
            </a:r>
            <a:r>
              <a:rPr lang="en-US" dirty="0"/>
              <a:t> W. </a:t>
            </a:r>
            <a:r>
              <a:rPr lang="en-US" dirty="0" err="1"/>
              <a:t>Hwu</a:t>
            </a:r>
            <a:r>
              <a:rPr lang="en-US" dirty="0"/>
              <a:t>, “Programming Massively Parallel Processors – A Hands-on Approach”, First Edition, Elsevier and </a:t>
            </a:r>
            <a:r>
              <a:rPr lang="en-US" dirty="0" err="1"/>
              <a:t>nvidia</a:t>
            </a:r>
            <a:r>
              <a:rPr lang="en-US" dirty="0"/>
              <a:t> Publishers, 2010.</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REFERENCE BOOKS</a:t>
            </a:r>
            <a:endParaRPr lang="en-US" dirty="0"/>
          </a:p>
        </p:txBody>
      </p:sp>
      <p:sp>
        <p:nvSpPr>
          <p:cNvPr id="3" name="Content Placeholder 2"/>
          <p:cNvSpPr>
            <a:spLocks noGrp="1"/>
          </p:cNvSpPr>
          <p:nvPr>
            <p:ph idx="1"/>
          </p:nvPr>
        </p:nvSpPr>
        <p:spPr/>
        <p:txBody>
          <a:bodyPr>
            <a:normAutofit lnSpcReduction="10000"/>
          </a:bodyPr>
          <a:lstStyle/>
          <a:p>
            <a:pPr marL="514350" lvl="0" indent="-514350">
              <a:buFont typeface="+mj-lt"/>
              <a:buAutoNum type="arabicPeriod"/>
            </a:pPr>
            <a:r>
              <a:rPr lang="en-US" dirty="0" smtClean="0"/>
              <a:t>Thomas </a:t>
            </a:r>
            <a:r>
              <a:rPr lang="en-US" dirty="0" err="1"/>
              <a:t>Rauber</a:t>
            </a:r>
            <a:r>
              <a:rPr lang="en-US" dirty="0"/>
              <a:t> and </a:t>
            </a:r>
            <a:r>
              <a:rPr lang="en-US" dirty="0" err="1"/>
              <a:t>Gudula</a:t>
            </a:r>
            <a:r>
              <a:rPr lang="en-US" dirty="0"/>
              <a:t> </a:t>
            </a:r>
            <a:r>
              <a:rPr lang="en-US" dirty="0" err="1"/>
              <a:t>Runger</a:t>
            </a:r>
            <a:r>
              <a:rPr lang="en-US" dirty="0"/>
              <a:t> Parallel Programming for </a:t>
            </a:r>
            <a:r>
              <a:rPr lang="en-US" dirty="0" err="1"/>
              <a:t>Multicore</a:t>
            </a:r>
            <a:r>
              <a:rPr lang="en-US" dirty="0"/>
              <a:t> and cluster </a:t>
            </a:r>
            <a:r>
              <a:rPr lang="en-US" dirty="0" err="1" smtClean="0"/>
              <a:t>systems,Springer</a:t>
            </a:r>
            <a:r>
              <a:rPr lang="en-US" dirty="0" smtClean="0"/>
              <a:t> </a:t>
            </a:r>
            <a:r>
              <a:rPr lang="en-US" dirty="0"/>
              <a:t>International Edition, 2009 .</a:t>
            </a:r>
          </a:p>
          <a:p>
            <a:pPr marL="514350" lvl="0" indent="-514350">
              <a:buFont typeface="+mj-lt"/>
              <a:buAutoNum type="arabicPeriod"/>
            </a:pPr>
            <a:r>
              <a:rPr lang="en-US" dirty="0"/>
              <a:t> Hennessey and Patterson Computer Architecture: A quantitative Approach, Morgan Kaufman Publishers </a:t>
            </a:r>
          </a:p>
          <a:p>
            <a:pPr marL="514350" lvl="0" indent="-514350">
              <a:buFont typeface="+mj-lt"/>
              <a:buAutoNum type="arabicPeriod"/>
            </a:pPr>
            <a:r>
              <a:rPr lang="en-US" dirty="0"/>
              <a:t>Michael </a:t>
            </a:r>
            <a:r>
              <a:rPr lang="en-US" dirty="0" err="1"/>
              <a:t>J.Quin</a:t>
            </a:r>
            <a:r>
              <a:rPr lang="en-US" dirty="0"/>
              <a:t> “Parallel Programming in C with MPI and Open MP”, McGraw Hill.</a:t>
            </a:r>
          </a:p>
          <a:p>
            <a:pPr>
              <a:buNone/>
            </a:pPr>
            <a:r>
              <a:rPr lang="en-US" dirty="0"/>
              <a:t> </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Course outcomes</a:t>
            </a:r>
            <a:endParaRPr lang="en-US" dirty="0"/>
          </a:p>
        </p:txBody>
      </p:sp>
      <p:sp>
        <p:nvSpPr>
          <p:cNvPr id="3" name="Content Placeholder 2"/>
          <p:cNvSpPr>
            <a:spLocks noGrp="1"/>
          </p:cNvSpPr>
          <p:nvPr>
            <p:ph idx="1"/>
          </p:nvPr>
        </p:nvSpPr>
        <p:spPr/>
        <p:txBody>
          <a:bodyPr>
            <a:normAutofit fontScale="85000" lnSpcReduction="10000"/>
          </a:bodyPr>
          <a:lstStyle/>
          <a:p>
            <a:pPr marL="514350" lvl="0" indent="-514350">
              <a:buFont typeface="+mj-lt"/>
              <a:buAutoNum type="arabicPeriod"/>
            </a:pPr>
            <a:r>
              <a:rPr lang="en-US" dirty="0" smtClean="0"/>
              <a:t>Explain </a:t>
            </a:r>
            <a:r>
              <a:rPr lang="en-US" dirty="0"/>
              <a:t>the technologies and architectures used for parallel computing.</a:t>
            </a:r>
          </a:p>
          <a:p>
            <a:pPr marL="514350" lvl="0" indent="-514350">
              <a:buFont typeface="+mj-lt"/>
              <a:buAutoNum type="arabicPeriod"/>
            </a:pPr>
            <a:r>
              <a:rPr lang="en-US" dirty="0"/>
              <a:t>Design and develop parallel programs using </a:t>
            </a:r>
            <a:r>
              <a:rPr lang="en-US" dirty="0" err="1"/>
              <a:t>OpenMP</a:t>
            </a:r>
            <a:r>
              <a:rPr lang="en-US" dirty="0"/>
              <a:t> programming interface.</a:t>
            </a:r>
          </a:p>
          <a:p>
            <a:pPr marL="514350" lvl="0" indent="-514350">
              <a:buFont typeface="+mj-lt"/>
              <a:buAutoNum type="arabicPeriod"/>
            </a:pPr>
            <a:r>
              <a:rPr lang="en-US" dirty="0"/>
              <a:t>Elaborate the principles and architecture of message-passing programming paradigm for solving real world problems.</a:t>
            </a:r>
          </a:p>
          <a:p>
            <a:pPr marL="514350" lvl="0" indent="-514350">
              <a:buFont typeface="+mj-lt"/>
              <a:buAutoNum type="arabicPeriod"/>
            </a:pPr>
            <a:r>
              <a:rPr lang="en-US" dirty="0"/>
              <a:t>Provide an understanding of Graphical Processing Units and their architecture.</a:t>
            </a:r>
          </a:p>
          <a:p>
            <a:pPr marL="514350" lvl="0" indent="-514350">
              <a:buFont typeface="+mj-lt"/>
              <a:buAutoNum type="arabicPeriod"/>
            </a:pPr>
            <a:r>
              <a:rPr lang="en-US" dirty="0"/>
              <a:t>Analyze the features of GPUs, their functionalities and also Design parallel applications using CUDA-C.</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a:t>
            </a:r>
            <a:endParaRPr lang="en-US" dirty="0"/>
          </a:p>
        </p:txBody>
      </p:sp>
      <p:sp>
        <p:nvSpPr>
          <p:cNvPr id="3" name="Content Placeholder 2"/>
          <p:cNvSpPr>
            <a:spLocks noGrp="1"/>
          </p:cNvSpPr>
          <p:nvPr>
            <p:ph idx="1"/>
          </p:nvPr>
        </p:nvSpPr>
        <p:spPr>
          <a:xfrm>
            <a:off x="304800" y="1295400"/>
            <a:ext cx="8534400" cy="4830763"/>
          </a:xfrm>
        </p:spPr>
        <p:txBody>
          <a:bodyPr>
            <a:normAutofit fontScale="92500"/>
          </a:bodyPr>
          <a:lstStyle/>
          <a:p>
            <a:r>
              <a:rPr lang="en-US" dirty="0" smtClean="0"/>
              <a:t>supercomputers </a:t>
            </a:r>
            <a:r>
              <a:rPr lang="en-US" dirty="0"/>
              <a:t>are the fastest and most powerful computers available, and </a:t>
            </a:r>
            <a:r>
              <a:rPr lang="en-US" dirty="0" smtClean="0"/>
              <a:t>at present </a:t>
            </a:r>
            <a:r>
              <a:rPr lang="en-US" dirty="0"/>
              <a:t>the term refers to machines with hundreds of thousands of processors</a:t>
            </a:r>
            <a:r>
              <a:rPr lang="en-US" dirty="0" smtClean="0"/>
              <a:t>.</a:t>
            </a:r>
          </a:p>
          <a:p>
            <a:r>
              <a:rPr lang="en-US" dirty="0"/>
              <a:t>They are the </a:t>
            </a:r>
            <a:r>
              <a:rPr lang="en-US" dirty="0" smtClean="0"/>
              <a:t>super-stars </a:t>
            </a:r>
            <a:r>
              <a:rPr lang="en-US" dirty="0"/>
              <a:t>of the </a:t>
            </a:r>
            <a:r>
              <a:rPr lang="en-US" dirty="0" smtClean="0"/>
              <a:t>high performance </a:t>
            </a:r>
            <a:r>
              <a:rPr lang="en-US" dirty="0"/>
              <a:t>class of computers. Personal computers (PCs) small enough in </a:t>
            </a:r>
            <a:r>
              <a:rPr lang="en-US" dirty="0" smtClean="0"/>
              <a:t>size and </a:t>
            </a:r>
            <a:r>
              <a:rPr lang="en-US" dirty="0"/>
              <a:t>cost to be used by an individual, yet powerful enough for advanced </a:t>
            </a:r>
            <a:r>
              <a:rPr lang="en-US" dirty="0" smtClean="0"/>
              <a:t>scientific </a:t>
            </a:r>
            <a:r>
              <a:rPr lang="en-US" dirty="0"/>
              <a:t>and </a:t>
            </a:r>
            <a:r>
              <a:rPr lang="en-US" dirty="0" smtClean="0"/>
              <a:t>engineering applications</a:t>
            </a:r>
            <a:r>
              <a:rPr lang="en-US" dirty="0"/>
              <a:t>, can also be </a:t>
            </a:r>
            <a:r>
              <a:rPr lang="en-US" dirty="0" smtClean="0"/>
              <a:t>high performance </a:t>
            </a:r>
            <a:r>
              <a:rPr lang="en-US" dirty="0"/>
              <a:t>computers.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lnSpcReduction="20000"/>
          </a:bodyPr>
          <a:lstStyle/>
          <a:p>
            <a:r>
              <a:rPr lang="en-US" dirty="0" smtClean="0"/>
              <a:t>High performance computers as machines with a good balance among the following major elements:</a:t>
            </a:r>
          </a:p>
          <a:p>
            <a:r>
              <a:rPr lang="en-US" dirty="0" smtClean="0"/>
              <a:t> </a:t>
            </a:r>
            <a:r>
              <a:rPr lang="en-US" dirty="0" err="1" smtClean="0"/>
              <a:t>Multistaged</a:t>
            </a:r>
            <a:r>
              <a:rPr lang="en-US" dirty="0" smtClean="0"/>
              <a:t> (pipelined) functional units.</a:t>
            </a:r>
          </a:p>
          <a:p>
            <a:r>
              <a:rPr lang="en-US" dirty="0" smtClean="0"/>
              <a:t> Multiple central processing units (CPUs) (parallel machines).</a:t>
            </a:r>
          </a:p>
          <a:p>
            <a:r>
              <a:rPr lang="en-US" dirty="0" smtClean="0"/>
              <a:t> Multiple cores.</a:t>
            </a:r>
          </a:p>
          <a:p>
            <a:r>
              <a:rPr lang="en-US" dirty="0" smtClean="0"/>
              <a:t>Fast central registers.</a:t>
            </a:r>
          </a:p>
          <a:p>
            <a:r>
              <a:rPr lang="en-US" dirty="0" smtClean="0"/>
              <a:t> Very large, fast memories.</a:t>
            </a:r>
          </a:p>
          <a:p>
            <a:r>
              <a:rPr lang="en-US" dirty="0" smtClean="0"/>
              <a:t> Very fast communication among functional units.</a:t>
            </a:r>
          </a:p>
          <a:p>
            <a:r>
              <a:rPr lang="en-US" dirty="0" smtClean="0"/>
              <a:t> Vector, video, or array processors.</a:t>
            </a:r>
          </a:p>
          <a:p>
            <a:r>
              <a:rPr lang="en-US" dirty="0" smtClean="0"/>
              <a:t> Software that integrates the above effectively.</a:t>
            </a:r>
          </a:p>
          <a:p>
            <a:pPr>
              <a:buNone/>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dirty="0" smtClean="0"/>
              <a:t>Figure 1: The logical arrangement of the CPU and memory showing a Fortran array A(N) and matrix M(N, N) loaded into memory.</a:t>
            </a:r>
            <a:endParaRPr lang="en-US" sz="1800"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1295400" y="2315369"/>
            <a:ext cx="6705599" cy="362823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Hierarchy</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An idealized model of computer architecture is a CPU sequentially executing a stream of instructions and reading from a continuous block of memory. To illustrate, in Figure 1 we see a vector A[ ] and an array M[ ][ ] loaded in memory and about to be processed. The real world is more complicated than this.</a:t>
            </a:r>
          </a:p>
          <a:p>
            <a:r>
              <a:rPr lang="en-US" dirty="0" smtClean="0"/>
              <a:t> First, matrices are not stored in blocks but rather in linear order. For instance, in Fortran it is in column major order:</a:t>
            </a:r>
          </a:p>
          <a:p>
            <a:pPr>
              <a:buNone/>
            </a:pPr>
            <a:r>
              <a:rPr lang="en-US" dirty="0" smtClean="0"/>
              <a:t>M(1; 1)M(2; 1)M(3; 1)M(1; 2)M(2; 2)M(3; 2)M(1; 3)M(2; 3) M(3; 3);</a:t>
            </a:r>
          </a:p>
          <a:p>
            <a:pPr>
              <a:buNone/>
            </a:pPr>
            <a:r>
              <a:rPr lang="en-US" dirty="0" smtClean="0"/>
              <a:t>while in Python, Java and C it is in row major order:</a:t>
            </a:r>
          </a:p>
          <a:p>
            <a:pPr>
              <a:buNone/>
            </a:pPr>
            <a:r>
              <a:rPr lang="en-US" dirty="0" smtClean="0"/>
              <a:t>  M(0; 0)M(0; 1)M(0; 2)M(1; 0)M(1; 1)M(1; 2)M(2; 0)M(2; 1)  M(2; 2):</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US" sz="1800" dirty="0" smtClean="0"/>
              <a:t>Second, as illustrated in Figures 2 and 3, the values for the matrix elements may not even be in the same physical place. Some may be in RAM, some on the disk, some in cache, and some in the CPU.</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685801" y="2482056"/>
            <a:ext cx="4267200" cy="4375944"/>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4953000" y="1295401"/>
            <a:ext cx="4191000" cy="5562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15400" cy="1143000"/>
          </a:xfrm>
        </p:spPr>
        <p:txBody>
          <a:bodyPr>
            <a:noAutofit/>
          </a:bodyPr>
          <a:lstStyle/>
          <a:p>
            <a:r>
              <a:rPr lang="en-US" sz="2400" dirty="0" smtClean="0"/>
              <a:t>Figure 3: Typical memory hierarchy for a single processor, high performance computer (B = bytes, K, M, G, T = kilo, mega, </a:t>
            </a:r>
            <a:r>
              <a:rPr lang="en-US" sz="2400" dirty="0" err="1" smtClean="0"/>
              <a:t>giga</a:t>
            </a:r>
            <a:r>
              <a:rPr lang="en-US" sz="2400" dirty="0" smtClean="0"/>
              <a:t>, </a:t>
            </a:r>
            <a:r>
              <a:rPr lang="en-US" sz="2400" dirty="0" err="1" smtClean="0"/>
              <a:t>tera</a:t>
            </a:r>
            <a:r>
              <a:rPr lang="en-US" sz="2400" dirty="0" smtClean="0"/>
              <a:t>).</a:t>
            </a:r>
            <a:endParaRPr lang="en-US" sz="2400"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838200" y="2510630"/>
            <a:ext cx="7620000" cy="305196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Central processing unit, the fastest part of the computer. The CPU consists of a number of very high speed memory units called registers containing the instructions sent to the hard-ware to do things like fetch, store, and operate on data. There are usually separate registers for instructions, addresses, and operands (current data). In many cases the CPU also contains some specialized parts for accelerating the processing of floating point numbers</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a:t>
            </a:r>
            <a:endParaRPr lang="en-US" dirty="0"/>
          </a:p>
        </p:txBody>
      </p:sp>
      <p:sp>
        <p:nvSpPr>
          <p:cNvPr id="3" name="Content Placeholder 2"/>
          <p:cNvSpPr>
            <a:spLocks noGrp="1"/>
          </p:cNvSpPr>
          <p:nvPr>
            <p:ph idx="1"/>
          </p:nvPr>
        </p:nvSpPr>
        <p:spPr/>
        <p:txBody>
          <a:bodyPr>
            <a:normAutofit fontScale="92500" lnSpcReduction="10000"/>
          </a:bodyPr>
          <a:lstStyle/>
          <a:p>
            <a:pPr algn="just">
              <a:buNone/>
            </a:pPr>
            <a:r>
              <a:rPr lang="en-US" dirty="0" smtClean="0"/>
              <a:t> A small, very fast bit of memory that holds instructions, addresses, and data in their passage between the very fast CPU registers and the slower RAM. (Also called a high speed </a:t>
            </a:r>
            <a:r>
              <a:rPr lang="en-US" dirty="0" err="1" smtClean="0"/>
              <a:t>bues</a:t>
            </a:r>
            <a:r>
              <a:rPr lang="en-US" dirty="0" smtClean="0"/>
              <a:t>.) This is seen in the next level down the pyramid in Figure 3. The main memory is also called dynamic RAM (DRAM), while the cache is called static RAM (SRAM). If the cache is used properly, it can greatly reduce the time that the CPU waits for data to be fetched from memory.</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RAM</a:t>
            </a:r>
            <a:endParaRPr lang="en-US" dirty="0"/>
          </a:p>
        </p:txBody>
      </p:sp>
      <p:sp>
        <p:nvSpPr>
          <p:cNvPr id="3" name="Content Placeholder 2"/>
          <p:cNvSpPr>
            <a:spLocks noGrp="1"/>
          </p:cNvSpPr>
          <p:nvPr>
            <p:ph idx="1"/>
          </p:nvPr>
        </p:nvSpPr>
        <p:spPr/>
        <p:txBody>
          <a:bodyPr/>
          <a:lstStyle/>
          <a:p>
            <a:pPr algn="just">
              <a:buNone/>
            </a:pPr>
            <a:r>
              <a:rPr lang="en-US" dirty="0" smtClean="0"/>
              <a:t> Random access or central memory is in the middle of the memory hierarchy in Figure 3. RAM is fast because its addresses can be accessed directly in random order, and because no mechanical devices are needed to read it.</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Pages</a:t>
            </a:r>
            <a:endParaRPr lang="en-US" dirty="0"/>
          </a:p>
        </p:txBody>
      </p:sp>
      <p:sp>
        <p:nvSpPr>
          <p:cNvPr id="3" name="Content Placeholder 2"/>
          <p:cNvSpPr>
            <a:spLocks noGrp="1"/>
          </p:cNvSpPr>
          <p:nvPr>
            <p:ph idx="1"/>
          </p:nvPr>
        </p:nvSpPr>
        <p:spPr/>
        <p:txBody>
          <a:bodyPr>
            <a:normAutofit/>
          </a:bodyPr>
          <a:lstStyle/>
          <a:p>
            <a:pPr algn="just">
              <a:buNone/>
            </a:pPr>
            <a:r>
              <a:rPr lang="en-US" dirty="0" smtClean="0"/>
              <a:t>Central memory is organized into pages, which are blocks of memory of fixed length. The operating system labels and organizes its memory pages much like we do the pages of a book; they are numbered and kept track of with a table of contents. Typical page sizes are from 4 to 16 </a:t>
            </a:r>
            <a:r>
              <a:rPr lang="en-US" dirty="0" err="1" smtClean="0"/>
              <a:t>kB</a:t>
            </a:r>
            <a:r>
              <a:rPr lang="en-US" dirty="0" smtClean="0"/>
              <a:t>, but on supercomputers may be in the MB range.</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 disk</a:t>
            </a:r>
            <a:endParaRPr lang="en-US" dirty="0"/>
          </a:p>
        </p:txBody>
      </p:sp>
      <p:sp>
        <p:nvSpPr>
          <p:cNvPr id="3" name="Content Placeholder 2"/>
          <p:cNvSpPr>
            <a:spLocks noGrp="1"/>
          </p:cNvSpPr>
          <p:nvPr>
            <p:ph idx="1"/>
          </p:nvPr>
        </p:nvSpPr>
        <p:spPr/>
        <p:txBody>
          <a:bodyPr>
            <a:normAutofit/>
          </a:bodyPr>
          <a:lstStyle/>
          <a:p>
            <a:pPr algn="just">
              <a:buNone/>
            </a:pPr>
            <a:r>
              <a:rPr lang="en-US" dirty="0" smtClean="0"/>
              <a:t>Finally, at the bottom of the memory pyramid is permanent storage on magnetic disks or optical devices. Although disks are very slow compared to RAM, they can store vast  amounts of data and sometimes compensate for their slower speeds by using a cache of their own, the paging storage controller.</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 memory</a:t>
            </a:r>
            <a:endParaRPr lang="en-US" dirty="0"/>
          </a:p>
        </p:txBody>
      </p:sp>
      <p:sp>
        <p:nvSpPr>
          <p:cNvPr id="3" name="Content Placeholder 2"/>
          <p:cNvSpPr>
            <a:spLocks noGrp="1"/>
          </p:cNvSpPr>
          <p:nvPr>
            <p:ph idx="1"/>
          </p:nvPr>
        </p:nvSpPr>
        <p:spPr/>
        <p:txBody>
          <a:bodyPr/>
          <a:lstStyle/>
          <a:p>
            <a:r>
              <a:rPr lang="en-US" dirty="0" smtClean="0"/>
              <a:t>True to its name, this is a part of memory you will not find in our figures because it is virtual. It acts like RAM but resides on the disk</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lgn="just"/>
            <a:r>
              <a:rPr lang="en-US" dirty="0" smtClean="0"/>
              <a:t>Virtual memory also allows multitasking, the simultaneous loading into memory of more programs than can physically fit into RAM (Figure 4). Although the ensuing switching among applications uses computing cycles, by avoiding long waits while an application is loaded into memory, multitasking increases the total throughout and permits an improved computing environment for users. For example, it is multitasking that permits a windowing system, such as Linux, OS X or Windows, to provide us with multiple windows. Even though each window application uses a fair amount of memory, only the single application currently receiving input must actually reside in memory the rest are paged out to disk.</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a:r>
              <a:rPr lang="en-US" sz="2800" dirty="0" smtClean="0"/>
              <a:t>Figure 4: Multitasking of four programs in memory at one time in which the programs are executed</a:t>
            </a:r>
            <a:br>
              <a:rPr lang="en-US" sz="2800" dirty="0" smtClean="0"/>
            </a:br>
            <a:r>
              <a:rPr lang="en-US" sz="2800" dirty="0" smtClean="0"/>
              <a:t>in round robin order.</a:t>
            </a:r>
            <a:endParaRPr lang="en-US" sz="2800"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990600" y="1676400"/>
            <a:ext cx="6553200" cy="4038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How does the CPU get to be so fast?</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buNone/>
            </a:pPr>
            <a:r>
              <a:rPr lang="en-US" b="1" dirty="0" smtClean="0"/>
              <a:t>Pre-fetching and pipelining</a:t>
            </a:r>
            <a:r>
              <a:rPr lang="en-US" dirty="0" smtClean="0"/>
              <a:t> that is, it has the ability to prepare for the next instruction before the current one has finished. It is like an assembly line or a bucket brigade in which the person filling the buckets at one end of the line does not wait for each bucket to arrive at the other end before filling another bucket. In the same way a processor fetches, reads, and decodes an instruction while another instruction is executing.</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cstate="print"/>
          <a:srcRect/>
          <a:stretch>
            <a:fillRect/>
          </a:stretch>
        </p:blipFill>
        <p:spPr bwMode="auto">
          <a:xfrm>
            <a:off x="381000" y="1981200"/>
            <a:ext cx="8077200" cy="3962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 Design</a:t>
            </a:r>
            <a:endParaRPr lang="en-US" dirty="0"/>
          </a:p>
        </p:txBody>
      </p:sp>
      <p:sp>
        <p:nvSpPr>
          <p:cNvPr id="3" name="Content Placeholder 2"/>
          <p:cNvSpPr>
            <a:spLocks noGrp="1"/>
          </p:cNvSpPr>
          <p:nvPr>
            <p:ph idx="1"/>
          </p:nvPr>
        </p:nvSpPr>
        <p:spPr/>
        <p:txBody>
          <a:bodyPr/>
          <a:lstStyle/>
          <a:p>
            <a:r>
              <a:rPr lang="en-US" dirty="0" smtClean="0"/>
              <a:t>Reduced instruction set computer (RISC) architecture</a:t>
            </a:r>
          </a:p>
          <a:p>
            <a:r>
              <a:rPr lang="en-US" dirty="0" smtClean="0"/>
              <a:t>Very Long Instruction Word (VLIW) Processors </a:t>
            </a:r>
          </a:p>
          <a:p>
            <a:r>
              <a:rPr lang="en-US" dirty="0" smtClean="0"/>
              <a:t>Multiple Core Processors</a:t>
            </a:r>
          </a:p>
          <a:p>
            <a:r>
              <a:rPr lang="en-US" dirty="0" smtClean="0"/>
              <a:t>Vector Processors</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Reduced instruction set computer (RISC) architecture</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smtClean="0"/>
              <a:t>Reduced instruction set computer (RISC) architecture (also called superscalar ) is a design philosophy for CPUs developed for high-performance computers and now used broadly. It increases the arithmetic speed of the CPU by decreasing the number of instructions the CPU must follow. To understand RISC we contrast it with complex instruction set computer (CISC), architecture. In the late 1970s, processor designers began to take advantage of very-large-scale integration (VLSI), which allowed the placement of hundreds of thousands of devices on a single CPU chip. Much of the space on these early chips was dedicated to microcode programs written by chip designers and containing machine language instructions that set the operating characteristics of the computer.</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CPU time = number of instructions  *cycles/instruction  *cycle time:</a:t>
            </a:r>
          </a:p>
          <a:p>
            <a:pPr>
              <a:buNone/>
            </a:pPr>
            <a:r>
              <a:rPr lang="en-US" b="1" dirty="0" smtClean="0"/>
              <a:t>In summary, the elements of RISC are the following:</a:t>
            </a:r>
          </a:p>
          <a:p>
            <a:pPr>
              <a:buNone/>
            </a:pPr>
            <a:r>
              <a:rPr lang="en-US" b="1" dirty="0" smtClean="0"/>
              <a:t>Single cycle execution</a:t>
            </a:r>
            <a:r>
              <a:rPr lang="en-US" dirty="0" smtClean="0"/>
              <a:t>, for most machine level instructions.</a:t>
            </a:r>
          </a:p>
          <a:p>
            <a:pPr>
              <a:buNone/>
            </a:pPr>
            <a:r>
              <a:rPr lang="en-US" b="1" dirty="0" smtClean="0"/>
              <a:t>Small instruction set</a:t>
            </a:r>
            <a:r>
              <a:rPr lang="en-US" dirty="0" smtClean="0"/>
              <a:t>, of less than 100 instructions.</a:t>
            </a:r>
          </a:p>
          <a:p>
            <a:pPr>
              <a:buNone/>
            </a:pPr>
            <a:r>
              <a:rPr lang="en-US" b="1" dirty="0" smtClean="0"/>
              <a:t>Register based instructions</a:t>
            </a:r>
            <a:r>
              <a:rPr lang="en-US" dirty="0" smtClean="0"/>
              <a:t>, operating on values in registers, with memory access conned to loading from and storing to registers.</a:t>
            </a:r>
          </a:p>
          <a:p>
            <a:pPr>
              <a:buNone/>
            </a:pPr>
            <a:r>
              <a:rPr lang="en-US" b="1" dirty="0" smtClean="0"/>
              <a:t>Many registers</a:t>
            </a:r>
            <a:r>
              <a:rPr lang="en-US" dirty="0" smtClean="0"/>
              <a:t>, usually more than 32.</a:t>
            </a:r>
          </a:p>
          <a:p>
            <a:pPr>
              <a:buNone/>
            </a:pPr>
            <a:r>
              <a:rPr lang="en-US" b="1" dirty="0" smtClean="0"/>
              <a:t>Pipelining, </a:t>
            </a:r>
            <a:r>
              <a:rPr lang="en-US" dirty="0" smtClean="0"/>
              <a:t>concurrent preparation of several instructions that are then executed successively.</a:t>
            </a:r>
          </a:p>
          <a:p>
            <a:pPr>
              <a:buNone/>
            </a:pPr>
            <a:r>
              <a:rPr lang="en-US" b="1" dirty="0" smtClean="0"/>
              <a:t>High level compilers</a:t>
            </a:r>
            <a:r>
              <a:rPr lang="en-US" dirty="0" smtClean="0"/>
              <a:t>, to improve performance.</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fontScale="90000"/>
          </a:bodyPr>
          <a:lstStyle/>
          <a:p>
            <a:r>
              <a:rPr lang="en-US"/>
              <a:t>Pipelining and Superscalar Execution </a:t>
            </a:r>
          </a:p>
        </p:txBody>
      </p:sp>
      <p:sp>
        <p:nvSpPr>
          <p:cNvPr id="6147" name="Rectangle 3"/>
          <p:cNvSpPr>
            <a:spLocks noGrp="1" noChangeArrowheads="1"/>
          </p:cNvSpPr>
          <p:nvPr>
            <p:ph type="body" idx="1"/>
          </p:nvPr>
        </p:nvSpPr>
        <p:spPr/>
        <p:txBody>
          <a:bodyPr/>
          <a:lstStyle/>
          <a:p>
            <a:r>
              <a:rPr lang="en-US"/>
              <a:t>Pipelining overlaps various stages of instruction execution to achieve performance. </a:t>
            </a:r>
          </a:p>
          <a:p>
            <a:r>
              <a:rPr lang="en-US"/>
              <a:t>At a high level of abstraction, an instruction can be executed while the next one is being decoded and the next one is being fetched. </a:t>
            </a:r>
          </a:p>
          <a:p>
            <a:r>
              <a:rPr lang="en-US"/>
              <a:t>This is akin to an assembly line for manufacture of cars. </a:t>
            </a:r>
          </a:p>
          <a:p>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r>
              <a:rPr lang="en-US"/>
              <a:t>Pipelining and Superscalar Execution </a:t>
            </a:r>
          </a:p>
        </p:txBody>
      </p:sp>
      <p:sp>
        <p:nvSpPr>
          <p:cNvPr id="7171" name="Rectangle 3"/>
          <p:cNvSpPr>
            <a:spLocks noGrp="1" noChangeArrowheads="1"/>
          </p:cNvSpPr>
          <p:nvPr>
            <p:ph type="body" idx="1"/>
          </p:nvPr>
        </p:nvSpPr>
        <p:spPr/>
        <p:txBody>
          <a:bodyPr>
            <a:normAutofit fontScale="92500" lnSpcReduction="20000"/>
          </a:bodyPr>
          <a:lstStyle/>
          <a:p>
            <a:pPr>
              <a:lnSpc>
                <a:spcPct val="90000"/>
              </a:lnSpc>
            </a:pPr>
            <a:r>
              <a:rPr lang="en-US" dirty="0"/>
              <a:t>Pipelining, however, has several limitations. </a:t>
            </a:r>
          </a:p>
          <a:p>
            <a:pPr>
              <a:lnSpc>
                <a:spcPct val="90000"/>
              </a:lnSpc>
            </a:pPr>
            <a:r>
              <a:rPr lang="en-US" dirty="0"/>
              <a:t>The speed of a pipeline is eventually limited by the slowest stage. </a:t>
            </a:r>
          </a:p>
          <a:p>
            <a:pPr>
              <a:lnSpc>
                <a:spcPct val="90000"/>
              </a:lnSpc>
            </a:pPr>
            <a:r>
              <a:rPr lang="en-US" dirty="0"/>
              <a:t>For this reason, conventional processors rely on very deep pipelines (20 stage pipelines in state-of-the-art Pentium processors). </a:t>
            </a:r>
          </a:p>
          <a:p>
            <a:pPr>
              <a:lnSpc>
                <a:spcPct val="90000"/>
              </a:lnSpc>
            </a:pPr>
            <a:r>
              <a:rPr lang="en-US" dirty="0"/>
              <a:t>However, in typical program traces, every 5-6th instruction is a conditional jump! This requires very accurate branch prediction. </a:t>
            </a:r>
          </a:p>
          <a:p>
            <a:pPr>
              <a:lnSpc>
                <a:spcPct val="90000"/>
              </a:lnSpc>
            </a:pPr>
            <a:r>
              <a:rPr lang="en-US" dirty="0"/>
              <a:t>The penalty of a </a:t>
            </a:r>
            <a:r>
              <a:rPr lang="en-US" dirty="0" err="1"/>
              <a:t>misprediction</a:t>
            </a:r>
            <a:r>
              <a:rPr lang="en-US" dirty="0"/>
              <a:t> grows with the depth of the pipeline, since a larger number of instructions will have to be flushed. </a:t>
            </a:r>
          </a:p>
          <a:p>
            <a:pPr>
              <a:lnSpc>
                <a:spcPct val="90000"/>
              </a:lnSpc>
            </a:pP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fontScale="90000"/>
          </a:bodyPr>
          <a:lstStyle/>
          <a:p>
            <a:r>
              <a:rPr lang="en-US"/>
              <a:t>Pipelining and Superscalar Execution </a:t>
            </a:r>
          </a:p>
        </p:txBody>
      </p:sp>
      <p:sp>
        <p:nvSpPr>
          <p:cNvPr id="8195" name="Rectangle 3"/>
          <p:cNvSpPr>
            <a:spLocks noGrp="1" noChangeArrowheads="1"/>
          </p:cNvSpPr>
          <p:nvPr>
            <p:ph type="body" idx="1"/>
          </p:nvPr>
        </p:nvSpPr>
        <p:spPr/>
        <p:txBody>
          <a:bodyPr/>
          <a:lstStyle/>
          <a:p>
            <a:r>
              <a:rPr lang="en-US"/>
              <a:t>One simple way of alleviating these bottlenecks is to use multiple pipelines. </a:t>
            </a:r>
          </a:p>
          <a:p>
            <a:r>
              <a:rPr lang="en-US"/>
              <a:t>The question then becomes one of selecting these instructions. </a:t>
            </a:r>
          </a:p>
          <a:p>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4638"/>
            <a:ext cx="8229600" cy="639762"/>
          </a:xfrm>
        </p:spPr>
        <p:txBody>
          <a:bodyPr>
            <a:normAutofit fontScale="90000"/>
          </a:bodyPr>
          <a:lstStyle/>
          <a:p>
            <a:r>
              <a:rPr lang="en-US" sz="2800" dirty="0"/>
              <a:t>Superscalar Execution: An Example</a:t>
            </a:r>
            <a:r>
              <a:rPr lang="en-US" dirty="0"/>
              <a:t> </a:t>
            </a:r>
          </a:p>
        </p:txBody>
      </p:sp>
      <p:pic>
        <p:nvPicPr>
          <p:cNvPr id="9223" name="Picture 7" descr="superscalar"/>
          <p:cNvPicPr>
            <a:picLocks noGrp="1" noChangeAspect="1" noChangeArrowheads="1"/>
          </p:cNvPicPr>
          <p:nvPr>
            <p:ph idx="1"/>
          </p:nvPr>
        </p:nvPicPr>
        <p:blipFill>
          <a:blip r:embed="rId2" cstate="print"/>
          <a:srcRect/>
          <a:stretch>
            <a:fillRect/>
          </a:stretch>
        </p:blipFill>
        <p:spPr>
          <a:xfrm>
            <a:off x="1295400" y="1066800"/>
            <a:ext cx="6629400" cy="4633913"/>
          </a:xfrm>
          <a:noFill/>
          <a:ln/>
        </p:spPr>
      </p:pic>
      <p:sp>
        <p:nvSpPr>
          <p:cNvPr id="9225" name="Rectangle 9"/>
          <p:cNvSpPr>
            <a:spLocks noChangeArrowheads="1"/>
          </p:cNvSpPr>
          <p:nvPr/>
        </p:nvSpPr>
        <p:spPr bwMode="auto">
          <a:xfrm>
            <a:off x="533400" y="5943600"/>
            <a:ext cx="8269288" cy="457200"/>
          </a:xfrm>
          <a:prstGeom prst="rect">
            <a:avLst/>
          </a:prstGeom>
          <a:noFill/>
          <a:ln w="9525">
            <a:noFill/>
            <a:miter lim="800000"/>
            <a:headEnd/>
            <a:tailEnd/>
          </a:ln>
          <a:effectLst/>
        </p:spPr>
        <p:txBody>
          <a:bodyPr wrap="none">
            <a:spAutoFit/>
          </a:bodyPr>
          <a:lstStyle/>
          <a:p>
            <a:r>
              <a:rPr lang="en-US" sz="2400"/>
              <a:t>Example of a two-way superscalar execution of instructions.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t>Superscalar Execution: An Example</a:t>
            </a:r>
          </a:p>
        </p:txBody>
      </p:sp>
      <p:sp>
        <p:nvSpPr>
          <p:cNvPr id="11267" name="Rectangle 3"/>
          <p:cNvSpPr>
            <a:spLocks noGrp="1" noChangeArrowheads="1"/>
          </p:cNvSpPr>
          <p:nvPr>
            <p:ph type="body" idx="1"/>
          </p:nvPr>
        </p:nvSpPr>
        <p:spPr/>
        <p:txBody>
          <a:bodyPr/>
          <a:lstStyle/>
          <a:p>
            <a:r>
              <a:rPr lang="en-US"/>
              <a:t>In the above example, there is some wastage of resources due to data dependencies. </a:t>
            </a:r>
          </a:p>
          <a:p>
            <a:r>
              <a:rPr lang="en-US"/>
              <a:t>The example also illustrates that different instruction mixes with identical semantics can take significantly different execution time. </a:t>
            </a:r>
          </a:p>
          <a:p>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t>Superscalar Execution </a:t>
            </a:r>
          </a:p>
        </p:txBody>
      </p:sp>
      <p:sp>
        <p:nvSpPr>
          <p:cNvPr id="12291" name="Rectangle 3"/>
          <p:cNvSpPr>
            <a:spLocks noGrp="1" noChangeArrowheads="1"/>
          </p:cNvSpPr>
          <p:nvPr>
            <p:ph type="body" idx="1"/>
          </p:nvPr>
        </p:nvSpPr>
        <p:spPr/>
        <p:txBody>
          <a:bodyPr>
            <a:normAutofit fontScale="85000" lnSpcReduction="20000"/>
          </a:bodyPr>
          <a:lstStyle/>
          <a:p>
            <a:pPr>
              <a:lnSpc>
                <a:spcPct val="90000"/>
              </a:lnSpc>
            </a:pPr>
            <a:r>
              <a:rPr lang="en-US"/>
              <a:t>Scheduling of instructions is determined by a number of factors: </a:t>
            </a:r>
          </a:p>
          <a:p>
            <a:pPr lvl="1">
              <a:lnSpc>
                <a:spcPct val="90000"/>
              </a:lnSpc>
            </a:pPr>
            <a:r>
              <a:rPr lang="en-US"/>
              <a:t>True Data Dependency: The result of one operation is an input to the next. </a:t>
            </a:r>
          </a:p>
          <a:p>
            <a:pPr lvl="1">
              <a:lnSpc>
                <a:spcPct val="90000"/>
              </a:lnSpc>
            </a:pPr>
            <a:r>
              <a:rPr lang="en-US"/>
              <a:t>Resource Dependency: Two operations require the same resource. </a:t>
            </a:r>
          </a:p>
          <a:p>
            <a:pPr lvl="1">
              <a:lnSpc>
                <a:spcPct val="90000"/>
              </a:lnSpc>
            </a:pPr>
            <a:r>
              <a:rPr lang="en-US"/>
              <a:t>Branch Dependency: Scheduling instructions across conditional branch statements cannot be done deterministically a-priori. </a:t>
            </a:r>
          </a:p>
          <a:p>
            <a:pPr lvl="1">
              <a:lnSpc>
                <a:spcPct val="90000"/>
              </a:lnSpc>
            </a:pPr>
            <a:r>
              <a:rPr lang="en-US"/>
              <a:t>The scheduler, a piece of hardware looks at a large number of instructions in an instruction queue and selects appropriate number of instructions to execute concurrently based on these factors. </a:t>
            </a:r>
          </a:p>
          <a:p>
            <a:pPr lvl="1">
              <a:lnSpc>
                <a:spcPct val="90000"/>
              </a:lnSpc>
            </a:pPr>
            <a:r>
              <a:rPr lang="en-US"/>
              <a:t>The complexity of this hardware is an important constraint on superscalar processors. </a:t>
            </a:r>
          </a:p>
          <a:p>
            <a:pPr>
              <a:lnSpc>
                <a:spcPct val="90000"/>
              </a:lnSpc>
            </a:pP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fontScale="90000"/>
          </a:bodyPr>
          <a:lstStyle/>
          <a:p>
            <a:r>
              <a:rPr lang="en-US"/>
              <a:t>Superscalar Execution: </a:t>
            </a:r>
            <a:br>
              <a:rPr lang="en-US"/>
            </a:br>
            <a:r>
              <a:rPr lang="en-US"/>
              <a:t>Issue Mechanisms </a:t>
            </a:r>
          </a:p>
        </p:txBody>
      </p:sp>
      <p:sp>
        <p:nvSpPr>
          <p:cNvPr id="13315" name="Rectangle 3"/>
          <p:cNvSpPr>
            <a:spLocks noGrp="1" noChangeArrowheads="1"/>
          </p:cNvSpPr>
          <p:nvPr>
            <p:ph type="body" idx="1"/>
          </p:nvPr>
        </p:nvSpPr>
        <p:spPr/>
        <p:txBody>
          <a:bodyPr>
            <a:normAutofit fontScale="85000" lnSpcReduction="10000"/>
          </a:bodyPr>
          <a:lstStyle/>
          <a:p>
            <a:r>
              <a:rPr lang="en-US" dirty="0"/>
              <a:t>In the simpler model, instructions can be issued only in the order in which they are encountered. That is, if the second instruction cannot be issued because it has a data dependency with the first, only one instruction is issued in the cycle. This is called </a:t>
            </a:r>
            <a:r>
              <a:rPr lang="en-US" i="1" dirty="0"/>
              <a:t>in-order</a:t>
            </a:r>
            <a:r>
              <a:rPr lang="en-US" dirty="0"/>
              <a:t> issue. </a:t>
            </a:r>
          </a:p>
          <a:p>
            <a:r>
              <a:rPr lang="en-US" dirty="0"/>
              <a:t>In a more aggressive model, instructions can be issued out of order. In this case, if the second instruction has data dependencies with the first, but the third instruction does not, the first and third instructions can be co-scheduled. This is also called dynamic issue. </a:t>
            </a:r>
          </a:p>
          <a:p>
            <a:r>
              <a:rPr lang="en-US" dirty="0"/>
              <a:t>Performance of in-order issue is generally limited. </a:t>
            </a:r>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fontScale="90000"/>
          </a:bodyPr>
          <a:lstStyle/>
          <a:p>
            <a:r>
              <a:rPr lang="en-US"/>
              <a:t>Superscalar Execution: </a:t>
            </a:r>
            <a:br>
              <a:rPr lang="en-US"/>
            </a:br>
            <a:r>
              <a:rPr lang="en-US"/>
              <a:t>Efficiency Considerations </a:t>
            </a:r>
          </a:p>
        </p:txBody>
      </p:sp>
      <p:sp>
        <p:nvSpPr>
          <p:cNvPr id="14339" name="Rectangle 3"/>
          <p:cNvSpPr>
            <a:spLocks noGrp="1" noChangeArrowheads="1"/>
          </p:cNvSpPr>
          <p:nvPr>
            <p:ph type="body" idx="1"/>
          </p:nvPr>
        </p:nvSpPr>
        <p:spPr/>
        <p:txBody>
          <a:bodyPr>
            <a:normAutofit fontScale="92500" lnSpcReduction="10000"/>
          </a:bodyPr>
          <a:lstStyle/>
          <a:p>
            <a:r>
              <a:rPr lang="en-US" dirty="0"/>
              <a:t>Not all functional units can be kept busy at all times. </a:t>
            </a:r>
          </a:p>
          <a:p>
            <a:r>
              <a:rPr lang="en-US" dirty="0"/>
              <a:t>If during a cycle, no functional units are utilized, this is referred to as vertical waste. </a:t>
            </a:r>
          </a:p>
          <a:p>
            <a:r>
              <a:rPr lang="en-US" dirty="0"/>
              <a:t>If during a cycle, only some of the functional units are utilized, this is referred to as horizontal waste. </a:t>
            </a:r>
          </a:p>
          <a:p>
            <a:r>
              <a:rPr lang="en-US" dirty="0"/>
              <a:t>Due to limited parallelism in typical instruction traces, dependencies, or the inability of the scheduler to extract parallelism, the performance of superscalar processors is eventually limited. </a:t>
            </a:r>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a:t>Very Long Instruction Word (VLIW) Processors </a:t>
            </a:r>
          </a:p>
        </p:txBody>
      </p:sp>
      <p:sp>
        <p:nvSpPr>
          <p:cNvPr id="15363" name="Rectangle 3"/>
          <p:cNvSpPr>
            <a:spLocks noGrp="1" noChangeArrowheads="1"/>
          </p:cNvSpPr>
          <p:nvPr>
            <p:ph type="body" idx="1"/>
          </p:nvPr>
        </p:nvSpPr>
        <p:spPr/>
        <p:txBody>
          <a:bodyPr>
            <a:normAutofit fontScale="85000" lnSpcReduction="10000"/>
          </a:bodyPr>
          <a:lstStyle/>
          <a:p>
            <a:r>
              <a:rPr lang="en-US" dirty="0"/>
              <a:t>The hardware cost and complexity of the superscalar scheduler is a major consideration in processor design. </a:t>
            </a:r>
          </a:p>
          <a:p>
            <a:r>
              <a:rPr lang="en-US" dirty="0"/>
              <a:t>To address this issues, VLIW processors rely on compile time analysis to identify and bundle together instructions that can be executed concurrently. </a:t>
            </a:r>
          </a:p>
          <a:p>
            <a:r>
              <a:rPr lang="en-US" dirty="0"/>
              <a:t>These instructions are packed and dispatched together, and thus the name very long instruction word. </a:t>
            </a:r>
          </a:p>
          <a:p>
            <a:r>
              <a:rPr lang="en-US" dirty="0"/>
              <a:t>This concept was used with some commercial success in the </a:t>
            </a:r>
            <a:r>
              <a:rPr lang="en-US" dirty="0" err="1"/>
              <a:t>Multiflow</a:t>
            </a:r>
            <a:r>
              <a:rPr lang="en-US" dirty="0"/>
              <a:t> Trace machine (circa 1984). </a:t>
            </a:r>
          </a:p>
          <a:p>
            <a:r>
              <a:rPr lang="en-US" dirty="0"/>
              <a:t>Variants of this concept are employed in the Intel IA64 processors. </a:t>
            </a:r>
          </a:p>
          <a:p>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t>Very Long Instruction Word (VLIW) Processors: Considerations </a:t>
            </a:r>
          </a:p>
        </p:txBody>
      </p:sp>
      <p:sp>
        <p:nvSpPr>
          <p:cNvPr id="16387" name="Rectangle 3"/>
          <p:cNvSpPr>
            <a:spLocks noGrp="1" noChangeArrowheads="1"/>
          </p:cNvSpPr>
          <p:nvPr>
            <p:ph type="body" idx="1"/>
          </p:nvPr>
        </p:nvSpPr>
        <p:spPr/>
        <p:txBody>
          <a:bodyPr>
            <a:normAutofit fontScale="85000" lnSpcReduction="20000"/>
          </a:bodyPr>
          <a:lstStyle/>
          <a:p>
            <a:pPr>
              <a:lnSpc>
                <a:spcPct val="90000"/>
              </a:lnSpc>
            </a:pPr>
            <a:r>
              <a:rPr lang="en-US" dirty="0"/>
              <a:t>Issue hardware is simpler. </a:t>
            </a:r>
          </a:p>
          <a:p>
            <a:pPr>
              <a:lnSpc>
                <a:spcPct val="90000"/>
              </a:lnSpc>
            </a:pPr>
            <a:r>
              <a:rPr lang="en-US" dirty="0"/>
              <a:t>Compiler has a bigger context from which to select co-scheduled instructions. </a:t>
            </a:r>
          </a:p>
          <a:p>
            <a:pPr>
              <a:lnSpc>
                <a:spcPct val="90000"/>
              </a:lnSpc>
            </a:pPr>
            <a:r>
              <a:rPr lang="en-US" dirty="0"/>
              <a:t>Compilers, however, do not have runtime information such as cache misses. Scheduling is, therefore, inherently conservative. </a:t>
            </a:r>
          </a:p>
          <a:p>
            <a:pPr>
              <a:lnSpc>
                <a:spcPct val="90000"/>
              </a:lnSpc>
            </a:pPr>
            <a:r>
              <a:rPr lang="en-US" dirty="0"/>
              <a:t>Branch and memory prediction is more difficult. </a:t>
            </a:r>
          </a:p>
          <a:p>
            <a:pPr>
              <a:lnSpc>
                <a:spcPct val="90000"/>
              </a:lnSpc>
            </a:pPr>
            <a:r>
              <a:rPr lang="en-US" dirty="0"/>
              <a:t>VLIW performance is highly dependent on the compiler. A number of techniques such as loop unrolling, speculative execution, branch prediction are critical. </a:t>
            </a:r>
          </a:p>
          <a:p>
            <a:pPr>
              <a:lnSpc>
                <a:spcPct val="90000"/>
              </a:lnSpc>
            </a:pPr>
            <a:r>
              <a:rPr lang="en-US" dirty="0"/>
              <a:t>Typical VLIW processors are limited to 4-way to 8-way parallelism. </a:t>
            </a:r>
          </a:p>
          <a:p>
            <a:pPr>
              <a:lnSpc>
                <a:spcPct val="90000"/>
              </a:lnSpc>
            </a:pP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fontScale="90000"/>
          </a:bodyPr>
          <a:lstStyle/>
          <a:p>
            <a:r>
              <a:rPr lang="en-US"/>
              <a:t>Limitations of </a:t>
            </a:r>
            <a:br>
              <a:rPr lang="en-US"/>
            </a:br>
            <a:r>
              <a:rPr lang="en-US"/>
              <a:t>Memory System Performance </a:t>
            </a:r>
          </a:p>
        </p:txBody>
      </p:sp>
      <p:sp>
        <p:nvSpPr>
          <p:cNvPr id="17411" name="Rectangle 3"/>
          <p:cNvSpPr>
            <a:spLocks noGrp="1" noChangeArrowheads="1"/>
          </p:cNvSpPr>
          <p:nvPr>
            <p:ph type="body" idx="1"/>
          </p:nvPr>
        </p:nvSpPr>
        <p:spPr/>
        <p:txBody>
          <a:bodyPr>
            <a:normAutofit fontScale="92500"/>
          </a:bodyPr>
          <a:lstStyle/>
          <a:p>
            <a:r>
              <a:rPr lang="en-US" dirty="0"/>
              <a:t>Memory system, and not processor speed, is often the bottleneck for many applications. </a:t>
            </a:r>
          </a:p>
          <a:p>
            <a:r>
              <a:rPr lang="en-US" dirty="0"/>
              <a:t>Memory system performance is largely captured by two parameters, latency and bandwidth. </a:t>
            </a:r>
          </a:p>
          <a:p>
            <a:r>
              <a:rPr lang="en-US" dirty="0"/>
              <a:t>Latency is the time from the issue of a memory request to the time the data is available at the processor. </a:t>
            </a:r>
          </a:p>
          <a:p>
            <a:r>
              <a:rPr lang="en-US" dirty="0"/>
              <a:t>Bandwidth is the rate at which data can be pumped to the processor by the memory system. </a:t>
            </a:r>
          </a:p>
          <a:p>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Multiple-Core Processors</a:t>
            </a:r>
            <a:endParaRPr lang="en-US" dirty="0"/>
          </a:p>
        </p:txBody>
      </p:sp>
      <p:sp>
        <p:nvSpPr>
          <p:cNvPr id="3" name="Content Placeholder 2"/>
          <p:cNvSpPr>
            <a:spLocks noGrp="1"/>
          </p:cNvSpPr>
          <p:nvPr>
            <p:ph idx="1"/>
          </p:nvPr>
        </p:nvSpPr>
        <p:spPr/>
        <p:txBody>
          <a:bodyPr>
            <a:normAutofit fontScale="92500" lnSpcReduction="10000"/>
          </a:bodyPr>
          <a:lstStyle/>
          <a:p>
            <a:pPr algn="just">
              <a:buNone/>
            </a:pPr>
            <a:r>
              <a:rPr lang="en-US" dirty="0" smtClean="0"/>
              <a:t>The present time is seeing a rapid increase in the inclusion of dual core, quad core, or even sixteen core chips as the computational engine of computers. As seen in Figure 5, a dual core chip has two CPUs in one integrated circuit with a shared interconnect and a shared level2 cache. This type of configuration with two or more identical processors connected to a single shared main memory is called symmetric multiprocessing, or SMP.</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err="1" smtClean="0"/>
              <a:t>multicore</a:t>
            </a:r>
            <a:r>
              <a:rPr lang="en-US" dirty="0" smtClean="0"/>
              <a:t> chips were designed for game playing and single precision, they are finding use in scientific computing as new tools, algorithms, and programming methods are employed.</a:t>
            </a:r>
          </a:p>
          <a:p>
            <a:r>
              <a:rPr lang="en-US" dirty="0" smtClean="0"/>
              <a:t>These chips attain more integrated speed with less heat and more energy efficiency than single </a:t>
            </a:r>
            <a:r>
              <a:rPr lang="en-US" dirty="0" err="1" smtClean="0"/>
              <a:t>corechips</a:t>
            </a:r>
            <a:r>
              <a:rPr lang="en-US" dirty="0" smtClean="0"/>
              <a:t>, whose heat generation limits them to clock speeds of less than 4 GHz. </a:t>
            </a:r>
          </a:p>
          <a:p>
            <a:r>
              <a:rPr lang="en-US" dirty="0" smtClean="0"/>
              <a:t>In contrast to multiple single core chips, </a:t>
            </a:r>
            <a:r>
              <a:rPr lang="en-US" dirty="0" err="1" smtClean="0"/>
              <a:t>multicore</a:t>
            </a:r>
            <a:r>
              <a:rPr lang="en-US" dirty="0" smtClean="0"/>
              <a:t> chips use fewer transistors per CPU and are thus simpler to make and cooler to run.</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2000" dirty="0" smtClean="0"/>
              <a:t>Figure 5:  A generic view of the Intel core-2 dual core processor, with CPU-local level-1 caches and a shared, on-die level-2 cache</a:t>
            </a:r>
            <a:endParaRPr lang="en-US" sz="2000"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685799" y="1752600"/>
            <a:ext cx="6477001" cy="457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 Processors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On a classic (von Neumann) scalar computer, the addition of two vectors of physical length 99 to form a third ultimately requires 99 sequential additions (Table 2). There is actually much behind the scenes</a:t>
            </a:r>
          </a:p>
          <a:p>
            <a:r>
              <a:rPr lang="en-US" dirty="0" smtClean="0"/>
              <a:t>work here. For each element </a:t>
            </a:r>
            <a:r>
              <a:rPr lang="en-US" dirty="0" err="1" smtClean="0"/>
              <a:t>i</a:t>
            </a:r>
            <a:r>
              <a:rPr lang="en-US" dirty="0" smtClean="0"/>
              <a:t> there is the fetch of a(</a:t>
            </a:r>
            <a:r>
              <a:rPr lang="en-US" dirty="0" err="1" smtClean="0"/>
              <a:t>i</a:t>
            </a:r>
            <a:r>
              <a:rPr lang="en-US" dirty="0" smtClean="0"/>
              <a:t>) from its location in memory, the fetch of b(</a:t>
            </a:r>
            <a:r>
              <a:rPr lang="en-US" dirty="0" err="1" smtClean="0"/>
              <a:t>i</a:t>
            </a:r>
            <a:r>
              <a:rPr lang="en-US" dirty="0" smtClean="0"/>
              <a:t>) from its location in memory, the addition of the numerical values of these two elements in a CPU register, and the storage in memory of the sum in c(</a:t>
            </a:r>
            <a:r>
              <a:rPr lang="en-US" dirty="0" err="1" smtClean="0"/>
              <a:t>i</a:t>
            </a:r>
            <a:r>
              <a:rPr lang="en-US" dirty="0" smtClean="0"/>
              <a:t>). This fetching uses up time and is wasteful in the sense that the computer is being told again and again to do the same thing.</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609601" y="1600200"/>
            <a:ext cx="8001000" cy="48005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Parallel Computing</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smtClean="0"/>
              <a:t>In our view, message passing has too many details for application scientists to worry about and (unfortunately) requires coding at an elementary level reminiscent of the early days of computing. However, the increasing occurrence of clusters in which the nodes are symmetric multiprocessors has led to the development of  sophisticated compilers that follow simpler programming models; for example, par-</a:t>
            </a:r>
            <a:r>
              <a:rPr lang="en-US" dirty="0" err="1" smtClean="0"/>
              <a:t>titioned</a:t>
            </a:r>
            <a:r>
              <a:rPr lang="en-US" dirty="0" smtClean="0"/>
              <a:t> global address space compilers such as Co Array Fortran, Unified Parallel C, and Titanium.</a:t>
            </a:r>
          </a:p>
          <a:p>
            <a:pPr algn="just"/>
            <a:r>
              <a:rPr lang="en-US" dirty="0" smtClean="0"/>
              <a:t>In these approaches the programmer views a global array of data and then manipulates these data as if they were contiguous.</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 Semantics (Theory)</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Single instruction, single data (SISD): These are the classic (von Neumann) serial computers executing a single instruction on a single data stream before the next instruction and next data stream are encountered.</a:t>
            </a:r>
          </a:p>
          <a:p>
            <a:r>
              <a:rPr lang="en-US" dirty="0" smtClean="0"/>
              <a:t>Single instruction, multiple data (SIMD): Here instructions are processed from a single stream, but the instructions act concurrently on multiple data elements. Generally the nodes are simple and relatively slow but are large in number.</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MIMD</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smtClean="0"/>
              <a:t>Multiple instructions, multiple data (MIMD): In this category each processor runs independently of the others with independent  instructions and data. These are the types of machines that employ message{passing packages, such as MPI, to communicate among processors. They may be a collection of workstations linked via a network, or more integrated machines with thousands of processors on internal boards, such as the Blue Gene computer described in x16. These computers, which do not have a shared memory space, are also called </a:t>
            </a:r>
            <a:r>
              <a:rPr lang="en-US" dirty="0" err="1" smtClean="0"/>
              <a:t>multicomputers</a:t>
            </a:r>
            <a:r>
              <a:rPr lang="en-US" dirty="0" smtClean="0"/>
              <a:t>. Although these types of computers are some of the most difficult to program, their low cost and effectiveness for certain classes of problems have led to their being the dominant type of parallel computer at present.</a:t>
            </a: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fontScale="90000"/>
          </a:bodyPr>
          <a:lstStyle/>
          <a:p>
            <a:r>
              <a:rPr lang="en-US"/>
              <a:t>Control Structure of Parallel Programs </a:t>
            </a:r>
          </a:p>
        </p:txBody>
      </p:sp>
      <p:sp>
        <p:nvSpPr>
          <p:cNvPr id="46083" name="Rectangle 3"/>
          <p:cNvSpPr>
            <a:spLocks noGrp="1" noChangeArrowheads="1"/>
          </p:cNvSpPr>
          <p:nvPr>
            <p:ph type="body" idx="1"/>
          </p:nvPr>
        </p:nvSpPr>
        <p:spPr/>
        <p:txBody>
          <a:bodyPr>
            <a:normAutofit fontScale="85000" lnSpcReduction="10000"/>
          </a:bodyPr>
          <a:lstStyle/>
          <a:p>
            <a:r>
              <a:rPr lang="en-US" dirty="0"/>
              <a:t>Processing units in parallel computers either operate under the centralized control of a single control unit or work independently. </a:t>
            </a:r>
          </a:p>
          <a:p>
            <a:r>
              <a:rPr lang="en-US" dirty="0"/>
              <a:t>If there is a single control unit that dispatches the same instruction to various processors (that work on different data), the model is referred to as single instruction stream, multiple data stream (SIMD). </a:t>
            </a:r>
          </a:p>
          <a:p>
            <a:r>
              <a:rPr lang="en-US" dirty="0"/>
              <a:t>If each processor has its own control </a:t>
            </a:r>
            <a:r>
              <a:rPr lang="en-US" dirty="0" err="1"/>
              <a:t>control</a:t>
            </a:r>
            <a:r>
              <a:rPr lang="en-US" dirty="0"/>
              <a:t> unit, each processor can execute different instructions on different data items. This model is called multiple instruction stream, multiple data stream (MIMD). </a:t>
            </a:r>
          </a:p>
          <a:p>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t>SIMD and MIMD Processors</a:t>
            </a:r>
          </a:p>
        </p:txBody>
      </p:sp>
      <p:pic>
        <p:nvPicPr>
          <p:cNvPr id="47108" name="Picture 4" descr="simd-mimd"/>
          <p:cNvPicPr>
            <a:picLocks noGrp="1" noChangeAspect="1" noChangeArrowheads="1"/>
          </p:cNvPicPr>
          <p:nvPr>
            <p:ph idx="1"/>
          </p:nvPr>
        </p:nvPicPr>
        <p:blipFill>
          <a:blip r:embed="rId2" cstate="print"/>
          <a:srcRect b="-3546"/>
          <a:stretch>
            <a:fillRect/>
          </a:stretch>
        </p:blipFill>
        <p:spPr>
          <a:xfrm>
            <a:off x="1981200" y="1524000"/>
            <a:ext cx="4954588" cy="4008438"/>
          </a:xfrm>
          <a:noFill/>
          <a:ln/>
        </p:spPr>
      </p:pic>
      <p:sp>
        <p:nvSpPr>
          <p:cNvPr id="47110" name="Rectangle 6"/>
          <p:cNvSpPr>
            <a:spLocks noChangeArrowheads="1"/>
          </p:cNvSpPr>
          <p:nvPr/>
        </p:nvSpPr>
        <p:spPr bwMode="auto">
          <a:xfrm>
            <a:off x="685800" y="5715000"/>
            <a:ext cx="7848600" cy="396875"/>
          </a:xfrm>
          <a:prstGeom prst="rect">
            <a:avLst/>
          </a:prstGeom>
          <a:noFill/>
          <a:ln w="9525">
            <a:noFill/>
            <a:miter lim="800000"/>
            <a:headEnd/>
            <a:tailEnd/>
          </a:ln>
          <a:effectLst/>
        </p:spPr>
        <p:txBody>
          <a:bodyPr>
            <a:spAutoFit/>
          </a:bodyPr>
          <a:lstStyle/>
          <a:p>
            <a:pPr algn="ctr"/>
            <a:r>
              <a:rPr lang="en-US" sz="2000"/>
              <a:t>A typical SIMD architecture (a) and a typical MIMD architecture (b).</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t>SIMD Processors </a:t>
            </a:r>
          </a:p>
        </p:txBody>
      </p:sp>
      <p:sp>
        <p:nvSpPr>
          <p:cNvPr id="48131" name="Rectangle 3"/>
          <p:cNvSpPr>
            <a:spLocks noGrp="1" noChangeArrowheads="1"/>
          </p:cNvSpPr>
          <p:nvPr>
            <p:ph type="body" idx="1"/>
          </p:nvPr>
        </p:nvSpPr>
        <p:spPr>
          <a:xfrm>
            <a:off x="457200" y="1447800"/>
            <a:ext cx="8229600" cy="4525963"/>
          </a:xfrm>
        </p:spPr>
        <p:txBody>
          <a:bodyPr>
            <a:normAutofit fontScale="77500" lnSpcReduction="20000"/>
          </a:bodyPr>
          <a:lstStyle/>
          <a:p>
            <a:r>
              <a:rPr lang="en-US"/>
              <a:t>Some of the earliest parallel computers such as the Illiac IV, MPP, DAP, CM-2, and MasPar MP-1 belonged to this class of machines. </a:t>
            </a:r>
          </a:p>
          <a:p>
            <a:r>
              <a:rPr lang="en-US"/>
              <a:t>Variants of this concept have found use in co-processing units such as the MMX units in Intel processors and DSP chips such as the Sharc. </a:t>
            </a:r>
          </a:p>
          <a:p>
            <a:r>
              <a:rPr lang="en-US"/>
              <a:t>SIMD relies on the regular structure of computations (such as those in image processing). </a:t>
            </a:r>
          </a:p>
          <a:p>
            <a:r>
              <a:rPr lang="en-US"/>
              <a:t>It is often necessary to selectively turn off operations on certain data items. For this reason, most SIMD programming paradigms allow for an ``activity mask'', which determines if a processor should participate in a computation or not. </a:t>
            </a:r>
          </a:p>
          <a:p>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57200" y="152400"/>
            <a:ext cx="8229600" cy="1143000"/>
          </a:xfrm>
        </p:spPr>
        <p:txBody>
          <a:bodyPr>
            <a:normAutofit fontScale="90000"/>
          </a:bodyPr>
          <a:lstStyle/>
          <a:p>
            <a:r>
              <a:rPr lang="en-US"/>
              <a:t>Conditional Execution in SIMD Processors </a:t>
            </a:r>
          </a:p>
        </p:txBody>
      </p:sp>
      <p:pic>
        <p:nvPicPr>
          <p:cNvPr id="50180" name="Picture 4" descr="unflex"/>
          <p:cNvPicPr>
            <a:picLocks noGrp="1" noChangeAspect="1" noChangeArrowheads="1"/>
          </p:cNvPicPr>
          <p:nvPr>
            <p:ph idx="1"/>
          </p:nvPr>
        </p:nvPicPr>
        <p:blipFill>
          <a:blip r:embed="rId2" cstate="print"/>
          <a:srcRect l="-2544" r="-2544" b="-1930"/>
          <a:stretch>
            <a:fillRect/>
          </a:stretch>
        </p:blipFill>
        <p:spPr>
          <a:xfrm>
            <a:off x="1676400" y="1390650"/>
            <a:ext cx="6019800" cy="4324350"/>
          </a:xfrm>
          <a:noFill/>
          <a:ln/>
        </p:spPr>
      </p:pic>
      <p:sp>
        <p:nvSpPr>
          <p:cNvPr id="50182" name="Rectangle 6"/>
          <p:cNvSpPr>
            <a:spLocks noChangeArrowheads="1"/>
          </p:cNvSpPr>
          <p:nvPr/>
        </p:nvSpPr>
        <p:spPr bwMode="auto">
          <a:xfrm>
            <a:off x="533400" y="5638800"/>
            <a:ext cx="8229600" cy="1006475"/>
          </a:xfrm>
          <a:prstGeom prst="rect">
            <a:avLst/>
          </a:prstGeom>
          <a:noFill/>
          <a:ln w="9525">
            <a:noFill/>
            <a:miter lim="800000"/>
            <a:headEnd/>
            <a:tailEnd/>
          </a:ln>
          <a:effectLst/>
        </p:spPr>
        <p:txBody>
          <a:bodyPr>
            <a:spAutoFit/>
          </a:bodyPr>
          <a:lstStyle/>
          <a:p>
            <a:pPr algn="ctr"/>
            <a:r>
              <a:rPr lang="en-US" sz="2000"/>
              <a:t>Executing a conditional statement on an SIMD computer with four processors: (a) the conditional statement; (b) the execution of the statement in two steps.</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t>MIMD Processors</a:t>
            </a:r>
          </a:p>
        </p:txBody>
      </p:sp>
      <p:sp>
        <p:nvSpPr>
          <p:cNvPr id="51203" name="Rectangle 3"/>
          <p:cNvSpPr>
            <a:spLocks noGrp="1" noChangeArrowheads="1"/>
          </p:cNvSpPr>
          <p:nvPr>
            <p:ph type="body" idx="1"/>
          </p:nvPr>
        </p:nvSpPr>
        <p:spPr/>
        <p:txBody>
          <a:bodyPr>
            <a:normAutofit fontScale="85000" lnSpcReduction="10000"/>
          </a:bodyPr>
          <a:lstStyle/>
          <a:p>
            <a:r>
              <a:rPr lang="en-US"/>
              <a:t>In contrast to SIMD processors, MIMD processors can execute different programs on different processors. </a:t>
            </a:r>
          </a:p>
          <a:p>
            <a:r>
              <a:rPr lang="en-US"/>
              <a:t>A variant of this, called single program multiple data streams (SPMD) executes the same program on different processors. </a:t>
            </a:r>
          </a:p>
          <a:p>
            <a:r>
              <a:rPr lang="en-US"/>
              <a:t>It is easy to see that SPMD and MIMD are closely related in terms of programming flexibility and underlying architectural support. </a:t>
            </a:r>
          </a:p>
          <a:p>
            <a:r>
              <a:rPr lang="en-US"/>
              <a:t>Examples of such platforms include current generation Sun Ultra Servers, SGI Origin Servers, multiprocessor PCs, workstation clusters, and the IBM SP. </a:t>
            </a:r>
          </a:p>
          <a:p>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t>SIMD-MIMD Comparison </a:t>
            </a:r>
          </a:p>
        </p:txBody>
      </p:sp>
      <p:sp>
        <p:nvSpPr>
          <p:cNvPr id="53251" name="Rectangle 3"/>
          <p:cNvSpPr>
            <a:spLocks noGrp="1" noChangeArrowheads="1"/>
          </p:cNvSpPr>
          <p:nvPr>
            <p:ph type="body" idx="1"/>
          </p:nvPr>
        </p:nvSpPr>
        <p:spPr/>
        <p:txBody>
          <a:bodyPr>
            <a:normAutofit fontScale="92500" lnSpcReduction="20000"/>
          </a:bodyPr>
          <a:lstStyle/>
          <a:p>
            <a:r>
              <a:rPr lang="en-US" dirty="0"/>
              <a:t>SIMD computers require less hardware than MIMD computers (single control unit). </a:t>
            </a:r>
          </a:p>
          <a:p>
            <a:r>
              <a:rPr lang="en-US" dirty="0"/>
              <a:t>However, since SIMD processors </a:t>
            </a:r>
            <a:r>
              <a:rPr lang="en-US" dirty="0" smtClean="0"/>
              <a:t>are </a:t>
            </a:r>
            <a:r>
              <a:rPr lang="en-US" dirty="0"/>
              <a:t>specially designed, they tend to be expensive and have long design cycles. </a:t>
            </a:r>
          </a:p>
          <a:p>
            <a:r>
              <a:rPr lang="en-US" dirty="0"/>
              <a:t>Not all applications are naturally suited to SIMD processors. </a:t>
            </a:r>
          </a:p>
          <a:p>
            <a:r>
              <a:rPr lang="en-US" dirty="0"/>
              <a:t>In contrast, platforms supporting the SPMD paradigm can be built from inexpensive off-the-shelf components with relatively little effort in a short amount of time. </a:t>
            </a:r>
          </a:p>
          <a:p>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normAutofit fontScale="90000"/>
          </a:bodyPr>
          <a:lstStyle/>
          <a:p>
            <a:r>
              <a:rPr lang="en-US"/>
              <a:t>Communication Model </a:t>
            </a:r>
            <a:br>
              <a:rPr lang="en-US"/>
            </a:br>
            <a:r>
              <a:rPr lang="en-US"/>
              <a:t>of Parallel Platforms </a:t>
            </a:r>
          </a:p>
        </p:txBody>
      </p:sp>
      <p:sp>
        <p:nvSpPr>
          <p:cNvPr id="54275" name="Rectangle 3"/>
          <p:cNvSpPr>
            <a:spLocks noGrp="1" noChangeArrowheads="1"/>
          </p:cNvSpPr>
          <p:nvPr>
            <p:ph type="body" idx="1"/>
          </p:nvPr>
        </p:nvSpPr>
        <p:spPr/>
        <p:txBody>
          <a:bodyPr>
            <a:normAutofit lnSpcReduction="10000"/>
          </a:bodyPr>
          <a:lstStyle/>
          <a:p>
            <a:r>
              <a:rPr lang="en-US" dirty="0"/>
              <a:t>There are two primary forms of data exchange between parallel tasks - accessing a shared data space and exchanging messages. </a:t>
            </a:r>
          </a:p>
          <a:p>
            <a:r>
              <a:rPr lang="en-US" dirty="0"/>
              <a:t>Platforms that provide a shared data space are called shared-address-space machines or multiprocessors. </a:t>
            </a:r>
          </a:p>
          <a:p>
            <a:r>
              <a:rPr lang="en-US" dirty="0"/>
              <a:t>Platforms that support messaging are also called message passing platforms or </a:t>
            </a:r>
            <a:r>
              <a:rPr lang="en-US" dirty="0" err="1"/>
              <a:t>multicomputers</a:t>
            </a:r>
            <a:r>
              <a:rPr lang="en-US" dirty="0"/>
              <a:t>. </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t>Shared-Address-Space Platforms </a:t>
            </a:r>
          </a:p>
        </p:txBody>
      </p:sp>
      <p:sp>
        <p:nvSpPr>
          <p:cNvPr id="55299" name="Rectangle 3"/>
          <p:cNvSpPr>
            <a:spLocks noGrp="1" noChangeArrowheads="1"/>
          </p:cNvSpPr>
          <p:nvPr>
            <p:ph type="body" idx="1"/>
          </p:nvPr>
        </p:nvSpPr>
        <p:spPr/>
        <p:txBody>
          <a:bodyPr>
            <a:normAutofit lnSpcReduction="10000"/>
          </a:bodyPr>
          <a:lstStyle/>
          <a:p>
            <a:r>
              <a:rPr lang="en-US" dirty="0"/>
              <a:t>Part (or all) of the memory is accessible to all processors. </a:t>
            </a:r>
          </a:p>
          <a:p>
            <a:r>
              <a:rPr lang="en-US" dirty="0"/>
              <a:t>Processors interact by modifying data objects stored in this shared-address-space. </a:t>
            </a:r>
          </a:p>
          <a:p>
            <a:r>
              <a:rPr lang="en-US" dirty="0"/>
              <a:t>If the time taken by a processor to access any memory word in the system global or local is identical, the platform is classified as a uniform memory access (UMA), else, a non-uniform memory access (NUMA) machine. </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normAutofit fontScale="90000"/>
          </a:bodyPr>
          <a:lstStyle/>
          <a:p>
            <a:r>
              <a:rPr lang="en-US"/>
              <a:t>NUMA and UMA Shared-Address-Space Platforms </a:t>
            </a:r>
          </a:p>
        </p:txBody>
      </p:sp>
      <p:pic>
        <p:nvPicPr>
          <p:cNvPr id="56324" name="Picture 4" descr="sm-dm-new"/>
          <p:cNvPicPr>
            <a:picLocks noGrp="1" noChangeAspect="1" noChangeArrowheads="1"/>
          </p:cNvPicPr>
          <p:nvPr>
            <p:ph idx="1"/>
          </p:nvPr>
        </p:nvPicPr>
        <p:blipFill>
          <a:blip r:embed="rId2" cstate="print"/>
          <a:srcRect/>
          <a:stretch>
            <a:fillRect/>
          </a:stretch>
        </p:blipFill>
        <p:spPr>
          <a:xfrm>
            <a:off x="1676400" y="1676400"/>
            <a:ext cx="5942013" cy="2393950"/>
          </a:xfrm>
          <a:noFill/>
          <a:ln/>
        </p:spPr>
      </p:pic>
      <p:sp>
        <p:nvSpPr>
          <p:cNvPr id="56326" name="Rectangle 6"/>
          <p:cNvSpPr>
            <a:spLocks noChangeArrowheads="1"/>
          </p:cNvSpPr>
          <p:nvPr/>
        </p:nvSpPr>
        <p:spPr bwMode="auto">
          <a:xfrm>
            <a:off x="609600" y="4267200"/>
            <a:ext cx="7696200" cy="1616075"/>
          </a:xfrm>
          <a:prstGeom prst="rect">
            <a:avLst/>
          </a:prstGeom>
          <a:noFill/>
          <a:ln w="9525">
            <a:noFill/>
            <a:miter lim="800000"/>
            <a:headEnd/>
            <a:tailEnd/>
          </a:ln>
          <a:effectLst/>
        </p:spPr>
        <p:txBody>
          <a:bodyPr>
            <a:spAutoFit/>
          </a:bodyPr>
          <a:lstStyle/>
          <a:p>
            <a:pPr algn="ctr"/>
            <a:r>
              <a:rPr lang="en-US" sz="2000"/>
              <a:t>Typical shared-address-space architectures: (a) Uniform-memory access shared-address-space computer; (b) Uniform-memory-access shared-address-space computer with caches and memories; (c) Non-uniform-memory-access shared-address-space computer with local memory only.</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normAutofit fontScale="90000"/>
          </a:bodyPr>
          <a:lstStyle/>
          <a:p>
            <a:r>
              <a:rPr lang="en-US"/>
              <a:t>NUMA and UMA </a:t>
            </a:r>
            <a:br>
              <a:rPr lang="en-US"/>
            </a:br>
            <a:r>
              <a:rPr lang="en-US"/>
              <a:t>Shared-Address-Space Platforms </a:t>
            </a:r>
          </a:p>
        </p:txBody>
      </p:sp>
      <p:sp>
        <p:nvSpPr>
          <p:cNvPr id="58371" name="Rectangle 3"/>
          <p:cNvSpPr>
            <a:spLocks noGrp="1" noChangeArrowheads="1"/>
          </p:cNvSpPr>
          <p:nvPr>
            <p:ph type="body" idx="1"/>
          </p:nvPr>
        </p:nvSpPr>
        <p:spPr/>
        <p:txBody>
          <a:bodyPr/>
          <a:lstStyle/>
          <a:p>
            <a:r>
              <a:rPr lang="en-US" sz="2000"/>
              <a:t>The distinction between NUMA and UMA platforms is important from the point of view of algorithm design. NUMA machines require locality from underlying algorithms for performance. </a:t>
            </a:r>
          </a:p>
          <a:p>
            <a:r>
              <a:rPr lang="en-US" sz="2000"/>
              <a:t>Programming these platforms is easier since reads and writes are implicitly visible to other processors. </a:t>
            </a:r>
          </a:p>
          <a:p>
            <a:r>
              <a:rPr lang="en-US" sz="2000"/>
              <a:t>However, read-write data to shared data must be coordinated (this will be discussed in greater detail when we talk about threads programming). </a:t>
            </a:r>
          </a:p>
          <a:p>
            <a:r>
              <a:rPr lang="en-US" sz="2000"/>
              <a:t>Caches in such machines require coordinated access to multiple copies. This leads to the cache coherence problem. </a:t>
            </a:r>
          </a:p>
          <a:p>
            <a:r>
              <a:rPr lang="en-US" sz="2000"/>
              <a:t>A weaker model of these machines provides an address map, but not coordinated access. These models are called non cache coherent shared address space machines. </a:t>
            </a:r>
          </a:p>
          <a:p>
            <a:endParaRPr lang="en-US" sz="20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normAutofit fontScale="90000"/>
          </a:bodyPr>
          <a:lstStyle/>
          <a:p>
            <a:r>
              <a:rPr lang="en-US"/>
              <a:t>Shared-Address-Space </a:t>
            </a:r>
            <a:br>
              <a:rPr lang="en-US"/>
            </a:br>
            <a:r>
              <a:rPr lang="en-US"/>
              <a:t>vs. </a:t>
            </a:r>
            <a:br>
              <a:rPr lang="en-US"/>
            </a:br>
            <a:r>
              <a:rPr lang="en-US"/>
              <a:t>Shared Memory Machines</a:t>
            </a:r>
            <a:r>
              <a:rPr lang="en-US" sz="2800"/>
              <a:t> </a:t>
            </a:r>
          </a:p>
        </p:txBody>
      </p:sp>
      <p:sp>
        <p:nvSpPr>
          <p:cNvPr id="59395" name="Rectangle 3"/>
          <p:cNvSpPr>
            <a:spLocks noGrp="1" noChangeArrowheads="1"/>
          </p:cNvSpPr>
          <p:nvPr>
            <p:ph type="body" idx="1"/>
          </p:nvPr>
        </p:nvSpPr>
        <p:spPr/>
        <p:txBody>
          <a:bodyPr/>
          <a:lstStyle/>
          <a:p>
            <a:r>
              <a:rPr lang="en-US"/>
              <a:t>It is important to note the difference between the terms shared address space and shared memory. </a:t>
            </a:r>
          </a:p>
          <a:p>
            <a:r>
              <a:rPr lang="en-US"/>
              <a:t>We refer to the former as a programming abstraction and to the latter as a physical machine attribute. </a:t>
            </a:r>
          </a:p>
          <a:p>
            <a:r>
              <a:rPr lang="en-US"/>
              <a:t>It is possible to provide a shared address space using a physically distributed memory. </a:t>
            </a:r>
          </a:p>
          <a:p>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t>Message-Passing Platforms </a:t>
            </a:r>
          </a:p>
        </p:txBody>
      </p:sp>
      <p:sp>
        <p:nvSpPr>
          <p:cNvPr id="60419" name="Rectangle 3"/>
          <p:cNvSpPr>
            <a:spLocks noGrp="1" noChangeArrowheads="1"/>
          </p:cNvSpPr>
          <p:nvPr>
            <p:ph type="body" idx="1"/>
          </p:nvPr>
        </p:nvSpPr>
        <p:spPr/>
        <p:txBody>
          <a:bodyPr>
            <a:normAutofit lnSpcReduction="10000"/>
          </a:bodyPr>
          <a:lstStyle/>
          <a:p>
            <a:r>
              <a:rPr lang="en-US"/>
              <a:t>These platforms comprise of a set of processors and their own (exclusive) memory. </a:t>
            </a:r>
          </a:p>
          <a:p>
            <a:r>
              <a:rPr lang="en-US"/>
              <a:t>Instances of such a view come naturally from clustered workstations and non-shared-address-space multicomputers. </a:t>
            </a:r>
          </a:p>
          <a:p>
            <a:r>
              <a:rPr lang="en-US"/>
              <a:t>These platforms are programmed using (variants of) send and receive primitives. </a:t>
            </a:r>
          </a:p>
          <a:p>
            <a:r>
              <a:rPr lang="en-US"/>
              <a:t>Libraries such as MPI and PVM provide such primitives. </a:t>
            </a:r>
          </a:p>
          <a:p>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ormAutofit fontScale="90000"/>
          </a:bodyPr>
          <a:lstStyle/>
          <a:p>
            <a:r>
              <a:rPr lang="en-US"/>
              <a:t>Message Passing </a:t>
            </a:r>
            <a:br>
              <a:rPr lang="en-US"/>
            </a:br>
            <a:r>
              <a:rPr lang="en-US"/>
              <a:t>vs. </a:t>
            </a:r>
            <a:br>
              <a:rPr lang="en-US"/>
            </a:br>
            <a:r>
              <a:rPr lang="en-US"/>
              <a:t>Shared Address Space Platforms</a:t>
            </a:r>
            <a:r>
              <a:rPr lang="en-US" sz="2800"/>
              <a:t> </a:t>
            </a:r>
          </a:p>
        </p:txBody>
      </p:sp>
      <p:sp>
        <p:nvSpPr>
          <p:cNvPr id="61443" name="Rectangle 3"/>
          <p:cNvSpPr>
            <a:spLocks noGrp="1" noChangeArrowheads="1"/>
          </p:cNvSpPr>
          <p:nvPr>
            <p:ph type="body" idx="1"/>
          </p:nvPr>
        </p:nvSpPr>
        <p:spPr/>
        <p:txBody>
          <a:bodyPr/>
          <a:lstStyle/>
          <a:p>
            <a:r>
              <a:rPr lang="en-US"/>
              <a:t>Message passing requires little hardware support, other than a network. </a:t>
            </a:r>
          </a:p>
          <a:p>
            <a:r>
              <a:rPr lang="en-US"/>
              <a:t>Shared address space platforms can easily emulate message passing. The reverse is more difficult to do (in an efficient manner). </a:t>
            </a:r>
          </a:p>
          <a:p>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Granularity</a:t>
            </a:r>
            <a:endParaRPr lang="en-US" dirty="0"/>
          </a:p>
        </p:txBody>
      </p:sp>
      <p:sp>
        <p:nvSpPr>
          <p:cNvPr id="3" name="Content Placeholder 2"/>
          <p:cNvSpPr>
            <a:spLocks noGrp="1"/>
          </p:cNvSpPr>
          <p:nvPr>
            <p:ph idx="1"/>
          </p:nvPr>
        </p:nvSpPr>
        <p:spPr/>
        <p:txBody>
          <a:bodyPr/>
          <a:lstStyle/>
          <a:p>
            <a:pPr algn="just"/>
            <a:r>
              <a:rPr lang="en-US" dirty="0" smtClean="0"/>
              <a:t>A grain is defined as a measure of the computational work to be done, more specifically, the ratio of computation work to communication work.</a:t>
            </a:r>
          </a:p>
          <a:p>
            <a:pPr algn="just"/>
            <a:r>
              <a:rPr lang="en-US" dirty="0" smtClean="0"/>
              <a:t>Coarse grain parallel</a:t>
            </a:r>
          </a:p>
          <a:p>
            <a:pPr algn="just"/>
            <a:r>
              <a:rPr lang="en-US" dirty="0" smtClean="0"/>
              <a:t>Medium grain parallel</a:t>
            </a:r>
          </a:p>
          <a:p>
            <a:pPr algn="just"/>
            <a:r>
              <a:rPr lang="en-US" dirty="0" smtClean="0"/>
              <a:t>Fine grain parallel</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Coarse grain parallel</a:t>
            </a:r>
            <a:endParaRPr lang="en-US" dirty="0"/>
          </a:p>
        </p:txBody>
      </p:sp>
      <p:sp>
        <p:nvSpPr>
          <p:cNvPr id="3" name="Content Placeholder 2"/>
          <p:cNvSpPr>
            <a:spLocks noGrp="1"/>
          </p:cNvSpPr>
          <p:nvPr>
            <p:ph idx="1"/>
          </p:nvPr>
        </p:nvSpPr>
        <p:spPr/>
        <p:txBody>
          <a:bodyPr>
            <a:normAutofit/>
          </a:bodyPr>
          <a:lstStyle/>
          <a:p>
            <a:pPr algn="just"/>
            <a:r>
              <a:rPr lang="en-US" dirty="0" smtClean="0"/>
              <a:t>Separate programs running on separate computer systems with the sys- </a:t>
            </a:r>
            <a:r>
              <a:rPr lang="en-US" dirty="0" err="1" smtClean="0"/>
              <a:t>tems</a:t>
            </a:r>
            <a:r>
              <a:rPr lang="en-US" dirty="0" smtClean="0"/>
              <a:t> coupled via a conventional communication network. An illustration is six Linux PCs sharing the same les across a network but with a different central memory system for each PC. Each computer can be operating on a different, independent part of one problem at the same time.</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Medium grain parallel</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Several processors executing (possibly </a:t>
            </a:r>
            <a:r>
              <a:rPr lang="en-US" dirty="0" err="1" smtClean="0"/>
              <a:t>dierent</a:t>
            </a:r>
            <a:r>
              <a:rPr lang="en-US" dirty="0" smtClean="0"/>
              <a:t>) programs simultaneously while accessing a common memory. The processors are usually placed on a common bus (communication channel) and communicate with each other through the memory system.</a:t>
            </a:r>
          </a:p>
          <a:p>
            <a:r>
              <a:rPr lang="en-US" dirty="0" smtClean="0"/>
              <a:t>Medium grain programs have different, independent, parallel subroutines running on different processors. Because the compilers are seldom smart enough to figure out which parts of the program to run where, the user must include the multitasking routines in the program.</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Fine grain parallel:</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smtClean="0"/>
              <a:t>As the granularity decreases and the number of nodes increases, there is an increased requirement for fast communication among the nodes. For this reason fine grain systems tend to be custom designed machines. The communication may be via a central bus or via shared memory for a small number of nodes, or through some form of high speed network for  massively parallel machines. In the latter case, the user typically divides the work via certain coding constructs, and the compiler just compiles the program. The program then  runs concurrently on a user specified number of nodes.</a:t>
            </a:r>
          </a:p>
          <a:p>
            <a:r>
              <a:rPr lang="en-US" dirty="0" smtClean="0"/>
              <a:t>For example, different for loops of a program may be run on different nodes.</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idx="1"/>
          </p:nvPr>
        </p:nvPicPr>
        <p:blipFill>
          <a:blip r:embed="rId2" cstate="print"/>
          <a:srcRect/>
          <a:stretch>
            <a:fillRect/>
          </a:stretch>
        </p:blipFill>
        <p:spPr bwMode="auto">
          <a:xfrm>
            <a:off x="381000" y="228600"/>
            <a:ext cx="8763000" cy="6629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Amdahl’s Law</a:t>
            </a:r>
            <a:endParaRPr lang="en-US" dirty="0"/>
          </a:p>
        </p:txBody>
      </p:sp>
      <p:sp>
        <p:nvSpPr>
          <p:cNvPr id="3" name="Content Placeholder 2"/>
          <p:cNvSpPr>
            <a:spLocks noGrp="1"/>
          </p:cNvSpPr>
          <p:nvPr>
            <p:ph idx="1"/>
          </p:nvPr>
        </p:nvSpPr>
        <p:spPr/>
        <p:txBody>
          <a:bodyPr/>
          <a:lstStyle/>
          <a:p>
            <a:r>
              <a:rPr lang="en-US" dirty="0" smtClean="0"/>
              <a:t>Amdahl’s law is used to find the performance gain that can be obtained by improving some portion or a functional unit of a computer.	</a:t>
            </a:r>
          </a:p>
          <a:p>
            <a:r>
              <a:rPr lang="en-US" dirty="0" smtClean="0"/>
              <a:t>It states that “ The performance improvement to be gained from using some faster mode of execution is limited by the fraction of the time the faster mode can be used”.</a:t>
            </a:r>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0"/>
            <a:ext cx="8915400" cy="6858000"/>
          </a:xfrm>
        </p:spPr>
        <p:txBody>
          <a:bodyPr>
            <a:normAutofit fontScale="92500" lnSpcReduction="20000"/>
          </a:bodyPr>
          <a:lstStyle/>
          <a:p>
            <a:r>
              <a:rPr lang="en-US" dirty="0" smtClean="0"/>
              <a:t>This law defines the </a:t>
            </a:r>
            <a:r>
              <a:rPr lang="en-US" b="1" i="1" dirty="0" smtClean="0"/>
              <a:t>speedup.</a:t>
            </a:r>
            <a:r>
              <a:rPr lang="en-US" b="1" dirty="0" smtClean="0"/>
              <a:t> </a:t>
            </a:r>
            <a:endParaRPr lang="en-US" dirty="0" smtClean="0"/>
          </a:p>
          <a:p>
            <a:r>
              <a:rPr lang="en-US" dirty="0" smtClean="0"/>
              <a:t>Speedup tells us how much faster a task will run using the computer.</a:t>
            </a:r>
          </a:p>
          <a:p>
            <a:r>
              <a:rPr lang="en-US" dirty="0" smtClean="0"/>
              <a:t>It depends on 2 factors:</a:t>
            </a:r>
          </a:p>
          <a:p>
            <a:pPr lvl="0"/>
            <a:r>
              <a:rPr lang="en-US" b="1" i="1" dirty="0" err="1" smtClean="0"/>
              <a:t>Fraction</a:t>
            </a:r>
            <a:r>
              <a:rPr lang="en-US" b="1" i="1" baseline="-25000" dirty="0" err="1" smtClean="0"/>
              <a:t>enhanced</a:t>
            </a:r>
            <a:r>
              <a:rPr lang="en-US" b="1" i="1" dirty="0" smtClean="0"/>
              <a:t>:</a:t>
            </a:r>
            <a:r>
              <a:rPr lang="en-US" dirty="0" smtClean="0"/>
              <a:t> The fraction of the execution time in the original machine that can be converted to take advantage of the enhancement. It is always less than or equal to 1. Example: If 20 seconds of the execution time of a program that takes 60 seconds in total can use an enhancement, the fraction is 20/60.</a:t>
            </a:r>
          </a:p>
          <a:p>
            <a:pPr lvl="0"/>
            <a:r>
              <a:rPr lang="en-US" b="1" i="1" dirty="0" err="1" smtClean="0"/>
              <a:t>Speedup</a:t>
            </a:r>
            <a:r>
              <a:rPr lang="en-US" b="1" i="1" baseline="-25000" dirty="0" err="1" smtClean="0"/>
              <a:t>enhanced</a:t>
            </a:r>
            <a:r>
              <a:rPr lang="en-US" b="1" i="1" baseline="-25000" dirty="0" smtClean="0"/>
              <a:t>:</a:t>
            </a:r>
            <a:r>
              <a:rPr lang="en-US" baseline="-25000" dirty="0" smtClean="0"/>
              <a:t> </a:t>
            </a:r>
            <a:r>
              <a:rPr lang="en-US" dirty="0" smtClean="0"/>
              <a:t> The improvement gained by the enhanced execution mode. It is always greater than or equal to 1. Example: If the enhanced mode takes, say 2 seconds for a portion of the program, while it is 5 seconds in the original mode, then the improvement is 5/2.</a:t>
            </a:r>
          </a:p>
          <a:p>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smtClean="0"/>
              <a:t>Imagine a situation where three friends, Sam, Jack, and Harry, are going to a party. There are two conditions to be able to get into the party hall; first, they need to go separately, and second, all of them need to be present at the door to be able to get in. Now, assume that Sam is coming in his car, Jack is using a motorcycle, and Harry is coming by foot. In this case, Harry is considered a bottleneck in the performance of the whole system. In other words, no matter how fast Sam and Jack can reach the party hall, all need to wait for Harry to arrive to be able to attend the party. This means that in order to accelerate the overall process, you need to concentrate on improving the performance of Harry much more than the other two.</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p:cNvPicPr>
            <a:picLocks noGrp="1"/>
          </p:cNvPicPr>
          <p:nvPr>
            <p:ph idx="1"/>
          </p:nvPr>
        </p:nvPicPr>
        <p:blipFill>
          <a:blip r:embed="rId2" cstate="print"/>
          <a:stretch>
            <a:fillRect/>
          </a:stretch>
        </p:blipFill>
        <p:spPr bwMode="auto">
          <a:xfrm>
            <a:off x="457200" y="1524000"/>
            <a:ext cx="8077200" cy="4419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idx="1"/>
          </p:nvPr>
        </p:nvPicPr>
        <p:blipFill>
          <a:blip r:embed="rId2" cstate="print"/>
          <a:srcRect/>
          <a:stretch>
            <a:fillRect/>
          </a:stretch>
        </p:blipFill>
        <p:spPr bwMode="auto">
          <a:xfrm>
            <a:off x="228600" y="1219200"/>
            <a:ext cx="8915400" cy="533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p:cNvPicPr>
          <p:nvPr>
            <p:ph idx="1"/>
          </p:nvPr>
        </p:nvPicPr>
        <p:blipFill>
          <a:blip r:embed="rId2" cstate="print"/>
          <a:srcRect/>
          <a:stretch>
            <a:fillRect/>
          </a:stretch>
        </p:blipFill>
        <p:spPr bwMode="auto">
          <a:xfrm>
            <a:off x="304800" y="1447800"/>
            <a:ext cx="8686800" cy="4876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p:cNvPicPr>
          <p:nvPr>
            <p:ph idx="1"/>
          </p:nvPr>
        </p:nvPicPr>
        <p:blipFill>
          <a:blip r:embed="rId2" cstate="print"/>
          <a:srcRect/>
          <a:stretch>
            <a:fillRect/>
          </a:stretch>
        </p:blipFill>
        <p:spPr bwMode="auto">
          <a:xfrm>
            <a:off x="457200" y="1676400"/>
            <a:ext cx="8229600" cy="45719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a:t>
            </a:r>
            <a:endParaRPr lang="en-US" dirty="0"/>
          </a:p>
        </p:txBody>
      </p:sp>
      <p:sp>
        <p:nvSpPr>
          <p:cNvPr id="3" name="Content Placeholder 2"/>
          <p:cNvSpPr>
            <a:spLocks noGrp="1"/>
          </p:cNvSpPr>
          <p:nvPr>
            <p:ph idx="1"/>
          </p:nvPr>
        </p:nvSpPr>
        <p:spPr/>
        <p:txBody>
          <a:bodyPr>
            <a:normAutofit/>
          </a:bodyPr>
          <a:lstStyle/>
          <a:p>
            <a:r>
              <a:rPr lang="en-US" dirty="0" smtClean="0"/>
              <a:t>What is the overall  speedup if you make 10% of a program 90  times faster?</a:t>
            </a:r>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790575" y="1676400"/>
            <a:ext cx="7210426" cy="4343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What is the overall speedup if you make 90% of a program 10  times faster?</a:t>
            </a:r>
          </a:p>
          <a:p>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cstate="print"/>
          <a:srcRect/>
          <a:stretch>
            <a:fillRect/>
          </a:stretch>
        </p:blipFill>
        <p:spPr bwMode="auto">
          <a:xfrm>
            <a:off x="514350" y="2819400"/>
            <a:ext cx="8248650" cy="304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304801" y="2438400"/>
            <a:ext cx="8534400" cy="2133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cstate="print"/>
          <a:srcRect/>
          <a:stretch>
            <a:fillRect/>
          </a:stretch>
        </p:blipFill>
        <p:spPr bwMode="auto">
          <a:xfrm>
            <a:off x="1828800" y="2514600"/>
            <a:ext cx="6629400" cy="3429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We  are considering   an enhancement to the processor of a server.  The new CPU 10X faster. I/O bound server, so 60% time waiting for I/O.</a:t>
            </a:r>
            <a:endParaRPr 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4" name="Picture 4"/>
          <p:cNvPicPr>
            <a:picLocks noGrp="1" noChangeAspect="1" noChangeArrowheads="1"/>
          </p:cNvPicPr>
          <p:nvPr>
            <p:ph idx="1"/>
          </p:nvPr>
        </p:nvPicPr>
        <p:blipFill>
          <a:blip r:embed="rId2" cstate="print"/>
          <a:srcRect/>
          <a:stretch>
            <a:fillRect/>
          </a:stretch>
        </p:blipFill>
        <p:spPr bwMode="auto">
          <a:xfrm>
            <a:off x="1066801" y="2133601"/>
            <a:ext cx="7086600" cy="3581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2984</TotalTime>
  <Words>4531</Words>
  <Application>Microsoft Office PowerPoint</Application>
  <PresentationFormat>On-screen Show (4:3)</PresentationFormat>
  <Paragraphs>228</Paragraphs>
  <Slides>78</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78</vt:i4>
      </vt:variant>
    </vt:vector>
  </HeadingPairs>
  <TitlesOfParts>
    <vt:vector size="81" baseType="lpstr">
      <vt:lpstr>Arial</vt:lpstr>
      <vt:lpstr>Calibri</vt:lpstr>
      <vt:lpstr>Office Theme</vt:lpstr>
      <vt:lpstr>Multi core Architecture Code:CS72          Credits:3:1:0:0  Incharge  Mallegowda M </vt:lpstr>
      <vt:lpstr>Syllabus</vt:lpstr>
      <vt:lpstr>PowerPoint Presentation</vt:lpstr>
      <vt:lpstr>TEXT BOOKS </vt:lpstr>
      <vt:lpstr>REFERENCE BOOKS</vt:lpstr>
      <vt:lpstr>Course outcomes</vt:lpstr>
      <vt:lpstr>Definition</vt:lpstr>
      <vt:lpstr>PowerPoint Presentation</vt:lpstr>
      <vt:lpstr>Figure 1: The logical arrangement of the CPU and memory showing a Fortran array A(N) and matrix M(N, N) loaded into memory.</vt:lpstr>
      <vt:lpstr>Memory Hierarchy</vt:lpstr>
      <vt:lpstr>Second, as illustrated in Figures 2 and 3, the values for the matrix elements may not even be in the same physical place. Some may be in RAM, some on the disk, some in cache, and some in the CPU.</vt:lpstr>
      <vt:lpstr>Figure 3: Typical memory hierarchy for a single processor, high performance computer (B = bytes, K, M, G, T = kilo, mega, giga, tera).</vt:lpstr>
      <vt:lpstr>CPU</vt:lpstr>
      <vt:lpstr>Cache</vt:lpstr>
      <vt:lpstr>RAM</vt:lpstr>
      <vt:lpstr>Pages</vt:lpstr>
      <vt:lpstr>Hard disk</vt:lpstr>
      <vt:lpstr>Virtual memory</vt:lpstr>
      <vt:lpstr>PowerPoint Presentation</vt:lpstr>
      <vt:lpstr>Figure 4: Multitasking of four programs in memory at one time in which the programs are executed in round robin order.</vt:lpstr>
      <vt:lpstr>PowerPoint Presentation</vt:lpstr>
      <vt:lpstr>PowerPoint Presentation</vt:lpstr>
      <vt:lpstr>PowerPoint Presentation</vt:lpstr>
      <vt:lpstr>CPU Design</vt:lpstr>
      <vt:lpstr>Reduced instruction set computer (RISC) architecture </vt:lpstr>
      <vt:lpstr>PowerPoint Presentation</vt:lpstr>
      <vt:lpstr>Pipelining and Superscalar Execution </vt:lpstr>
      <vt:lpstr>Pipelining and Superscalar Execution </vt:lpstr>
      <vt:lpstr>Pipelining and Superscalar Execution </vt:lpstr>
      <vt:lpstr>Superscalar Execution: An Example </vt:lpstr>
      <vt:lpstr>Superscalar Execution: An Example</vt:lpstr>
      <vt:lpstr>Superscalar Execution </vt:lpstr>
      <vt:lpstr>Superscalar Execution:  Issue Mechanisms </vt:lpstr>
      <vt:lpstr>Superscalar Execution:  Efficiency Considerations </vt:lpstr>
      <vt:lpstr>Very Long Instruction Word (VLIW) Processors </vt:lpstr>
      <vt:lpstr>Very Long Instruction Word (VLIW) Processors: Considerations </vt:lpstr>
      <vt:lpstr>Limitations of  Memory System Performance </vt:lpstr>
      <vt:lpstr>Multiple-Core Processors</vt:lpstr>
      <vt:lpstr>PowerPoint Presentation</vt:lpstr>
      <vt:lpstr>Figure 5:  A generic view of the Intel core-2 dual core processor, with CPU-local level-1 caches and a shared, on-die level-2 cache</vt:lpstr>
      <vt:lpstr>Vector Processors</vt:lpstr>
      <vt:lpstr>PowerPoint Presentation</vt:lpstr>
      <vt:lpstr>Introduction to Parallel Computing</vt:lpstr>
      <vt:lpstr>Parallel Semantics (Theory)</vt:lpstr>
      <vt:lpstr>MIMD</vt:lpstr>
      <vt:lpstr>Control Structure of Parallel Programs </vt:lpstr>
      <vt:lpstr>SIMD and MIMD Processors</vt:lpstr>
      <vt:lpstr>SIMD Processors </vt:lpstr>
      <vt:lpstr>Conditional Execution in SIMD Processors </vt:lpstr>
      <vt:lpstr>MIMD Processors</vt:lpstr>
      <vt:lpstr>SIMD-MIMD Comparison </vt:lpstr>
      <vt:lpstr>Communication Model  of Parallel Platforms </vt:lpstr>
      <vt:lpstr>Shared-Address-Space Platforms </vt:lpstr>
      <vt:lpstr>NUMA and UMA Shared-Address-Space Platforms </vt:lpstr>
      <vt:lpstr>NUMA and UMA  Shared-Address-Space Platforms </vt:lpstr>
      <vt:lpstr>Shared-Address-Space  vs.  Shared Memory Machines </vt:lpstr>
      <vt:lpstr>Message-Passing Platforms </vt:lpstr>
      <vt:lpstr>Message Passing  vs.  Shared Address Space Platforms </vt:lpstr>
      <vt:lpstr>Granularity</vt:lpstr>
      <vt:lpstr>Coarse grain parallel</vt:lpstr>
      <vt:lpstr>Medium grain parallel</vt:lpstr>
      <vt:lpstr>Fine grain parallel:</vt:lpstr>
      <vt:lpstr>PowerPoint Presentation</vt:lpstr>
      <vt:lpstr>Amdahl’s Law</vt:lpstr>
      <vt:lpstr>PowerPoint Presentation</vt:lpstr>
      <vt:lpstr>PowerPoint Presentation</vt:lpstr>
      <vt:lpstr>PowerPoint Presentation</vt:lpstr>
      <vt:lpstr>PowerPoint Presentation</vt:lpstr>
      <vt:lpstr>PowerPoint Presentation</vt:lpstr>
      <vt:lpstr>PowerPoint Presentation</vt:lpstr>
      <vt:lpstr>problems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 Performance Computing Code:CS72          Credits:3:0:0:1  Inchanrge Faculty Mallegowda M Bheemappa H</dc:title>
  <dc:creator>MSRSAP</dc:creator>
  <cp:lastModifiedBy>ADMIN</cp:lastModifiedBy>
  <cp:revision>156</cp:revision>
  <dcterms:created xsi:type="dcterms:W3CDTF">2020-08-31T07:55:37Z</dcterms:created>
  <dcterms:modified xsi:type="dcterms:W3CDTF">2024-10-15T12:25:52Z</dcterms:modified>
</cp:coreProperties>
</file>